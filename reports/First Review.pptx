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66" r:id="rId2"/>
    <p:sldId id="257" r:id="rId3"/>
    <p:sldId id="258" r:id="rId4"/>
    <p:sldId id="259" r:id="rId5"/>
    <p:sldId id="267" r:id="rId6"/>
    <p:sldId id="261" r:id="rId7"/>
    <p:sldId id="262" r:id="rId8"/>
    <p:sldId id="268" r:id="rId9"/>
    <p:sldId id="269" r:id="rId10"/>
    <p:sldId id="270" r:id="rId11"/>
    <p:sldId id="271" r:id="rId12"/>
    <p:sldId id="263" r:id="rId13"/>
    <p:sldId id="264" r:id="rId14"/>
    <p:sldId id="272" r:id="rId15"/>
  </p:sldIdLst>
  <p:sldSz cx="12192000" cy="6858000"/>
  <p:notesSz cx="6858000" cy="9144000"/>
  <p:embeddedFontLst>
    <p:embeddedFont>
      <p:font typeface="Arial Narrow" panose="020B060602020203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jgpA3tYX7ecFgO0nqVv4n2HMa+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7" autoAdjust="0"/>
    <p:restoredTop sz="94660"/>
  </p:normalViewPr>
  <p:slideViewPr>
    <p:cSldViewPr snapToGrid="0">
      <p:cViewPr varScale="1">
        <p:scale>
          <a:sx n="92" d="100"/>
          <a:sy n="92" d="100"/>
        </p:scale>
        <p:origin x="10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7F3047F-EAA0-7659-1992-17CF212080DC}"/>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4370C67F-0660-5CB5-4872-9C48638E95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93727A31-871E-8705-C0A8-7652852A45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7308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7D0C13E5-045B-75D4-434F-76D072843F22}"/>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F3931510-9BB8-3716-16D5-8E1F89EA2E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47CCA4ED-231A-C727-02C9-8096FC2BA8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2207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0391AA5A-1D6E-FAA8-6ACB-DD9CB7D46228}"/>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BF5CE308-F9BE-77C4-3919-72932A19554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240F45BC-C8AF-6C80-CCC5-9E989DE00A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5061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788319FF-8051-1098-257C-7C8130B0E607}"/>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88C75C3B-12D4-6691-F871-F946662168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8BD54B4C-F7A4-9D77-10A6-AECD844002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2670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5183188" y="987425"/>
            <a:ext cx="6172200" cy="4873625"/>
          </a:xfrm>
          <a:prstGeom prst="rect">
            <a:avLst/>
          </a:prstGeom>
          <a:noFill/>
          <a:ln>
            <a:noFill/>
          </a:ln>
        </p:spPr>
      </p:sp>
      <p:sp>
        <p:nvSpPr>
          <p:cNvPr id="68" name="Google Shape;68;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lens.or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doi.org/10.18653/v1/2023.emnlp-main.105" TargetMode="External"/><Relationship Id="rId3" Type="http://schemas.openxmlformats.org/officeDocument/2006/relationships/hyperlink" Target="https://www.sciencedirect.com/science/article/pii/S1474034619306007" TargetMode="External"/><Relationship Id="rId7" Type="http://schemas.openxmlformats.org/officeDocument/2006/relationships/hyperlink" Target="https://www.sciencedirect.com/science/article/pii/S0040162516307661" TargetMode="External"/><Relationship Id="rId2" Type="http://schemas.openxmlformats.org/officeDocument/2006/relationships/hyperlink" Target="https://doi.org/10.1016/j.aei.2019.101027" TargetMode="External"/><Relationship Id="rId1" Type="http://schemas.openxmlformats.org/officeDocument/2006/relationships/slideLayout" Target="../slideLayouts/slideLayout2.xml"/><Relationship Id="rId6" Type="http://schemas.openxmlformats.org/officeDocument/2006/relationships/hyperlink" Target="https://doi.org/10.1016/j.techfore.2016.11.023" TargetMode="External"/><Relationship Id="rId5" Type="http://schemas.openxmlformats.org/officeDocument/2006/relationships/hyperlink" Target="https://www.tandfonline.com/doi/full/10.1080/01441647.2021.1879310" TargetMode="External"/><Relationship Id="rId4" Type="http://schemas.openxmlformats.org/officeDocument/2006/relationships/hyperlink" Target="https://doi.org/10.1080/01441647.2021.1879310" TargetMode="External"/><Relationship Id="rId9" Type="http://schemas.openxmlformats.org/officeDocument/2006/relationships/hyperlink" Target="https://arxiv.org/abs/2310.1318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3873" y="1068767"/>
            <a:ext cx="10804161" cy="4124194"/>
          </a:xfrm>
        </p:spPr>
        <p:txBody>
          <a:bodyPr>
            <a:normAutofit/>
          </a:bodyPr>
          <a:lstStyle/>
          <a:p>
            <a:r>
              <a:rPr lang="en-US" sz="4000" dirty="0">
                <a:latin typeface="Arial Narrow" panose="020B0606020202030204" pitchFamily="34" charset="0"/>
              </a:rPr>
              <a:t>Analyzing Technological Trends in Autonomous Vehicles through Patent Text Mining and Predictive Modeling</a:t>
            </a:r>
            <a:br>
              <a:rPr lang="en-US" sz="4000" dirty="0">
                <a:latin typeface="Arial Narrow" panose="020B0606020202030204" pitchFamily="34" charset="0"/>
              </a:rPr>
            </a:br>
            <a:br>
              <a:rPr lang="en-US" sz="5400" dirty="0">
                <a:latin typeface="Arial Narrow" panose="020B0606020202030204" pitchFamily="34" charset="0"/>
              </a:rPr>
            </a:br>
            <a:r>
              <a:rPr lang="en-US" sz="5400" dirty="0">
                <a:latin typeface="Arial Narrow" panose="020B0606020202030204" pitchFamily="34" charset="0"/>
              </a:rPr>
              <a:t> </a:t>
            </a:r>
            <a:endParaRPr lang="en-IN" sz="5400"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03/06/2025</a:t>
            </a: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First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t>CS7610</a:t>
            </a:r>
            <a:endParaRPr lang="en-US" dirty="0">
              <a:latin typeface="Arial Narrow" panose="020B0606020202030204" pitchFamily="34" charset="0"/>
            </a:endParaRPr>
          </a:p>
          <a:p>
            <a:r>
              <a:rPr lang="en-US" b="1" dirty="0">
                <a:latin typeface="Arial Narrow" panose="020B0606020202030204" pitchFamily="34" charset="0"/>
              </a:rPr>
              <a:t>Course Title: </a:t>
            </a:r>
            <a:r>
              <a:rPr lang="en-US" dirty="0"/>
              <a:t>Capstone Project</a:t>
            </a:r>
          </a:p>
          <a:p>
            <a:r>
              <a:rPr lang="en-US" b="1" dirty="0">
                <a:latin typeface="Arial Narrow" panose="020B0606020202030204" pitchFamily="34" charset="0"/>
              </a:rPr>
              <a:t>Guide Name: </a:t>
            </a:r>
            <a:r>
              <a:rPr lang="en-IN" dirty="0"/>
              <a:t>Prof. Ramya </a:t>
            </a:r>
            <a:r>
              <a:rPr lang="en-IN" dirty="0" err="1"/>
              <a:t>Mohanakrishnan</a:t>
            </a:r>
            <a:endParaRPr lang="en-IN" b="1" dirty="0">
              <a:latin typeface="Arial Narrow" panose="020B0606020202030204" pitchFamily="34" charset="0"/>
            </a:endParaRPr>
          </a:p>
        </p:txBody>
      </p:sp>
      <p:sp>
        <p:nvSpPr>
          <p:cNvPr id="7" name="Footer Placeholder 6"/>
          <p:cNvSpPr>
            <a:spLocks noGrp="1"/>
          </p:cNvSpPr>
          <p:nvPr>
            <p:ph type="ftr" sz="quarter" idx="11"/>
          </p:nvPr>
        </p:nvSpPr>
        <p:spPr>
          <a:xfrm>
            <a:off x="3277292" y="6356350"/>
            <a:ext cx="5637415" cy="325384"/>
          </a:xfrm>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
        <p:nvSpPr>
          <p:cNvPr id="9" name="TextBox 8">
            <a:extLst>
              <a:ext uri="{FF2B5EF4-FFF2-40B4-BE49-F238E27FC236}">
                <a16:creationId xmlns:a16="http://schemas.microsoft.com/office/drawing/2014/main" id="{32251324-BBEA-0D84-CC7C-7BF1608186DF}"/>
              </a:ext>
            </a:extLst>
          </p:cNvPr>
          <p:cNvSpPr txBox="1"/>
          <p:nvPr/>
        </p:nvSpPr>
        <p:spPr>
          <a:xfrm>
            <a:off x="3579060" y="3742710"/>
            <a:ext cx="5173786" cy="646331"/>
          </a:xfrm>
          <a:prstGeom prst="rect">
            <a:avLst/>
          </a:prstGeom>
          <a:noFill/>
        </p:spPr>
        <p:txBody>
          <a:bodyPr wrap="square" rtlCol="0">
            <a:spAutoFit/>
          </a:bodyPr>
          <a:lstStyle/>
          <a:p>
            <a:r>
              <a:rPr lang="en-US" sz="3600" dirty="0">
                <a:solidFill>
                  <a:schemeClr val="tx1">
                    <a:lumMod val="65000"/>
                    <a:lumOff val="35000"/>
                  </a:schemeClr>
                </a:solidFill>
                <a:latin typeface="Arial Narrow" panose="020B0606020202030204" pitchFamily="34" charset="0"/>
              </a:rPr>
              <a:t>Natural Language Processing</a:t>
            </a:r>
            <a:endParaRPr lang="en-IN" sz="3600"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Problem Statement</a:t>
            </a:r>
            <a:endParaRPr b="1">
              <a:latin typeface="Arial Narrow"/>
              <a:ea typeface="Arial Narrow"/>
              <a:cs typeface="Arial Narrow"/>
              <a:sym typeface="Arial Narrow"/>
            </a:endParaRPr>
          </a:p>
        </p:txBody>
      </p:sp>
      <p:sp>
        <p:nvSpPr>
          <p:cNvPr id="100" name="Google Shape;100;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0" indent="0">
              <a:buNone/>
            </a:pPr>
            <a:r>
              <a:rPr lang="en-US" dirty="0"/>
              <a:t>Patents are a valuable source of early-stage technological insights, offering structured disclosures of innovation across industries. In the rapidly evolving autonomous vehicle (AV) domain, analyzing patent text can reveal emerging trends, key technologies, and innovation gaps. This project applies Natural Language Processing (NLP) to extract structured knowledge from AV-related patents. By identifying key terms and relationships, we build semantic representations of each document. These are then used in machine learning techniques such as clustering and dimensionality reduction to uncover hidden patterns and technology clusters. The goal is to demonstrate how AI-driven patent analysis can support trend forecasting and strategic R&amp;D planning in the AV space.</a:t>
            </a:r>
          </a:p>
          <a:p>
            <a:endParaRPr lang="en-IN" dirty="0"/>
          </a:p>
          <a:p>
            <a:pPr marL="228600" lvl="0" indent="-50800" algn="l" rtl="0">
              <a:lnSpc>
                <a:spcPct val="90000"/>
              </a:lnSpc>
              <a:spcBef>
                <a:spcPts val="0"/>
              </a:spcBef>
              <a:spcAft>
                <a:spcPts val="0"/>
              </a:spcAft>
              <a:buClr>
                <a:schemeClr val="dk1"/>
              </a:buClr>
              <a:buSzPts val="2800"/>
              <a:buNone/>
            </a:pPr>
            <a:endParaRPr dirty="0"/>
          </a:p>
        </p:txBody>
      </p:sp>
      <p:sp>
        <p:nvSpPr>
          <p:cNvPr id="101" name="Google Shape;101;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02" name="Google Shape;102;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a:latin typeface="Arial Narrow"/>
                <a:ea typeface="Arial Narrow"/>
                <a:cs typeface="Arial Narrow"/>
                <a:sym typeface="Arial Narrow"/>
              </a:rPr>
              <a:t>Objectives</a:t>
            </a:r>
            <a:endParaRPr>
              <a:latin typeface="Arial Narrow"/>
              <a:ea typeface="Arial Narrow"/>
              <a:cs typeface="Arial Narrow"/>
              <a:sym typeface="Arial Narrow"/>
            </a:endParaRPr>
          </a:p>
        </p:txBody>
      </p:sp>
      <p:sp>
        <p:nvSpPr>
          <p:cNvPr id="108" name="Google Shape;108;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35000" lvl="0" indent="-457200">
              <a:spcBef>
                <a:spcPts val="0"/>
              </a:spcBef>
              <a:buSzPts val="2800"/>
              <a:buFontTx/>
              <a:buChar char="-"/>
            </a:pPr>
            <a:r>
              <a:rPr lang="en-US" dirty="0"/>
              <a:t>Construct a structured and comprehensive dataset</a:t>
            </a:r>
          </a:p>
          <a:p>
            <a:pPr marL="635000" lvl="0" indent="-457200">
              <a:spcBef>
                <a:spcPts val="0"/>
              </a:spcBef>
              <a:buSzPts val="2800"/>
              <a:buFontTx/>
              <a:buChar char="-"/>
            </a:pPr>
            <a:r>
              <a:rPr lang="en-US" dirty="0"/>
              <a:t>Gain foundational insights into the patent corpus</a:t>
            </a:r>
          </a:p>
          <a:p>
            <a:pPr marL="635000" lvl="0" indent="-457200">
              <a:spcBef>
                <a:spcPts val="0"/>
              </a:spcBef>
              <a:buSzPts val="2800"/>
              <a:buFontTx/>
              <a:buChar char="-"/>
            </a:pPr>
            <a:r>
              <a:rPr lang="en-US" dirty="0"/>
              <a:t>Uncover high-level trends using NLP methods</a:t>
            </a:r>
          </a:p>
          <a:p>
            <a:pPr marL="635000" lvl="0" indent="-457200">
              <a:spcBef>
                <a:spcPts val="0"/>
              </a:spcBef>
              <a:buSzPts val="2800"/>
              <a:buFontTx/>
              <a:buChar char="-"/>
            </a:pPr>
            <a:r>
              <a:rPr lang="en-IN" dirty="0"/>
              <a:t>Develop structured, machine-interpretable features</a:t>
            </a:r>
          </a:p>
          <a:p>
            <a:pPr marL="635000" lvl="0" indent="-457200">
              <a:spcBef>
                <a:spcPts val="0"/>
              </a:spcBef>
              <a:buSzPts val="2800"/>
              <a:buFontTx/>
              <a:buChar char="-"/>
            </a:pPr>
            <a:r>
              <a:rPr lang="en-US" dirty="0"/>
              <a:t>Apply and evaluate predictive models</a:t>
            </a:r>
          </a:p>
          <a:p>
            <a:pPr marL="635000" lvl="0" indent="-457200">
              <a:spcBef>
                <a:spcPts val="0"/>
              </a:spcBef>
              <a:buSzPts val="2800"/>
              <a:buFontTx/>
              <a:buChar char="-"/>
            </a:pPr>
            <a:endParaRPr dirty="0"/>
          </a:p>
        </p:txBody>
      </p:sp>
      <p:sp>
        <p:nvSpPr>
          <p:cNvPr id="109" name="Google Shape;10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10" name="Google Shape;11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Review of Related Literature</a:t>
            </a:r>
            <a:endParaRPr b="1">
              <a:latin typeface="Arial Narrow"/>
              <a:ea typeface="Arial Narrow"/>
              <a:cs typeface="Arial Narrow"/>
              <a:sym typeface="Arial Narrow"/>
            </a:endParaRPr>
          </a:p>
        </p:txBody>
      </p:sp>
      <p:sp>
        <p:nvSpPr>
          <p:cNvPr id="116" name="Google Shape;116;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0000" lnSpcReduction="20000"/>
          </a:bodyPr>
          <a:lstStyle/>
          <a:p>
            <a:pPr marL="0" lvl="0" indent="0">
              <a:spcBef>
                <a:spcPts val="0"/>
              </a:spcBef>
              <a:buClr>
                <a:srgbClr val="FF0000"/>
              </a:buClr>
              <a:buSzPts val="2800"/>
              <a:buNone/>
            </a:pPr>
            <a:r>
              <a:rPr lang="en-US" dirty="0">
                <a:solidFill>
                  <a:schemeClr val="tx1"/>
                </a:solidFill>
              </a:rPr>
              <a:t>Base Paper</a:t>
            </a:r>
            <a:endParaRPr dirty="0">
              <a:solidFill>
                <a:schemeClr val="tx1"/>
              </a:solidFill>
            </a:endParaRPr>
          </a:p>
          <a:p>
            <a:pPr indent="-457200">
              <a:buClr>
                <a:schemeClr val="tx1"/>
              </a:buClr>
              <a:buSzPts val="2800"/>
            </a:pPr>
            <a:r>
              <a:rPr lang="en-US" dirty="0">
                <a:solidFill>
                  <a:schemeClr val="tx1"/>
                </a:solidFill>
              </a:rPr>
              <a:t>Author Name: </a:t>
            </a:r>
            <a:r>
              <a:rPr lang="en-IN" dirty="0">
                <a:solidFill>
                  <a:schemeClr val="tx1"/>
                </a:solidFill>
              </a:rPr>
              <a:t>Amy J.C. Trappey, Charles V. Trappey, </a:t>
            </a:r>
            <a:r>
              <a:rPr lang="en-IN" dirty="0" err="1">
                <a:solidFill>
                  <a:schemeClr val="tx1"/>
                </a:solidFill>
              </a:rPr>
              <a:t>Jheng</a:t>
            </a:r>
            <a:r>
              <a:rPr lang="en-IN" dirty="0">
                <a:solidFill>
                  <a:schemeClr val="tx1"/>
                </a:solidFill>
              </a:rPr>
              <a:t>-Long Wu, Jack W.C. Wang</a:t>
            </a:r>
            <a:endParaRPr lang="en-US" dirty="0">
              <a:solidFill>
                <a:schemeClr val="tx1"/>
              </a:solidFill>
            </a:endParaRPr>
          </a:p>
          <a:p>
            <a:pPr indent="-457200">
              <a:buClr>
                <a:schemeClr val="tx1"/>
              </a:buClr>
              <a:buSzPts val="2800"/>
            </a:pPr>
            <a:r>
              <a:rPr lang="en-US" dirty="0">
                <a:solidFill>
                  <a:schemeClr val="tx1"/>
                </a:solidFill>
              </a:rPr>
              <a:t>Title of the Paper: Intelligent compilation of patent summaries using machine learning and natural language processing techniques</a:t>
            </a:r>
          </a:p>
          <a:p>
            <a:pPr indent="-457200">
              <a:buClr>
                <a:schemeClr val="tx1"/>
              </a:buClr>
              <a:buSzPts val="2800"/>
            </a:pPr>
            <a:r>
              <a:rPr lang="en-US" dirty="0">
                <a:solidFill>
                  <a:schemeClr val="tx1"/>
                </a:solidFill>
              </a:rPr>
              <a:t>Journal Title: </a:t>
            </a:r>
            <a:r>
              <a:rPr lang="en-IN" dirty="0">
                <a:solidFill>
                  <a:schemeClr val="tx1"/>
                </a:solidFill>
              </a:rPr>
              <a:t>Advanced Engineering Informatics </a:t>
            </a:r>
            <a:endParaRPr lang="en-US" dirty="0">
              <a:solidFill>
                <a:schemeClr val="tx1"/>
              </a:solidFill>
            </a:endParaRPr>
          </a:p>
          <a:p>
            <a:pPr indent="-457200">
              <a:buClr>
                <a:schemeClr val="tx1"/>
              </a:buClr>
              <a:buSzPts val="2800"/>
            </a:pPr>
            <a:r>
              <a:rPr lang="en-US" dirty="0">
                <a:solidFill>
                  <a:schemeClr val="tx1"/>
                </a:solidFill>
              </a:rPr>
              <a:t>Year of Publication: 2020</a:t>
            </a:r>
            <a:endParaRPr dirty="0">
              <a:solidFill>
                <a:schemeClr val="tx1"/>
              </a:solidFill>
            </a:endParaRPr>
          </a:p>
          <a:p>
            <a:pPr indent="-457200">
              <a:buClr>
                <a:schemeClr val="tx1"/>
              </a:buClr>
              <a:buSzPts val="2800"/>
            </a:pPr>
            <a:r>
              <a:rPr lang="en-US" dirty="0">
                <a:solidFill>
                  <a:schemeClr val="tx1"/>
                </a:solidFill>
              </a:rPr>
              <a:t>Methodology used: artificial intelligence, natural language processing, deep learning, and machine learning to automatically summarize patent documents, evaluated using ROUGE metrics to ensure high precision and recall</a:t>
            </a:r>
            <a:endParaRPr dirty="0">
              <a:solidFill>
                <a:schemeClr val="tx1"/>
              </a:solidFill>
            </a:endParaRPr>
          </a:p>
          <a:p>
            <a:pPr indent="-457200">
              <a:buClr>
                <a:schemeClr val="tx1"/>
              </a:buClr>
              <a:buSzPts val="2800"/>
            </a:pPr>
            <a:r>
              <a:rPr lang="en-US" dirty="0">
                <a:solidFill>
                  <a:schemeClr val="tx1"/>
                </a:solidFill>
              </a:rPr>
              <a:t>Outcomes: The developed AI-based solution accurately summarizes patent documents with high precision and recall, effectively identifying key information and achieving performance comparable to human experts, ultimately saving time and cost in IP technology identification.</a:t>
            </a:r>
            <a:endParaRPr dirty="0">
              <a:solidFill>
                <a:schemeClr val="tx1"/>
              </a:solidFill>
            </a:endParaRPr>
          </a:p>
          <a:p>
            <a:pPr indent="-457200">
              <a:buClr>
                <a:schemeClr val="tx1"/>
              </a:buClr>
              <a:buSzPts val="2800"/>
            </a:pPr>
            <a:r>
              <a:rPr lang="en-US" dirty="0">
                <a:solidFill>
                  <a:schemeClr val="tx1"/>
                </a:solidFill>
              </a:rPr>
              <a:t>Point taken into consideration for your methodology: Sequence to Sequence with Attention and Doc2Vec, alongside rigorous evaluation using ROUGE metrics</a:t>
            </a:r>
            <a:endParaRPr dirty="0">
              <a:solidFill>
                <a:schemeClr val="tx1"/>
              </a:solidFill>
            </a:endParaRPr>
          </a:p>
        </p:txBody>
      </p:sp>
      <p:sp>
        <p:nvSpPr>
          <p:cNvPr id="117" name="Google Shape;11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18" name="Google Shape;11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631466" y="1360091"/>
            <a:ext cx="10515600" cy="4351338"/>
          </a:xfrm>
        </p:spPr>
        <p:txBody>
          <a:bodyPr/>
          <a:lstStyle/>
          <a:p>
            <a:r>
              <a:rPr lang="en-US" dirty="0">
                <a:latin typeface="Arial Narrow" panose="020B0606020202030204" pitchFamily="34" charset="0"/>
              </a:rPr>
              <a:t>Source of the Dataset: </a:t>
            </a:r>
            <a:r>
              <a:rPr lang="en-US" dirty="0">
                <a:latin typeface="Arial Narrow" panose="020B0606020202030204" pitchFamily="34" charset="0"/>
                <a:hlinkClick r:id="rId2"/>
              </a:rPr>
              <a:t>lens.org</a:t>
            </a:r>
            <a:endParaRPr lang="en-US" dirty="0">
              <a:latin typeface="Arial Narrow" panose="020B0606020202030204" pitchFamily="34" charset="0"/>
            </a:endParaRPr>
          </a:p>
          <a:p>
            <a:r>
              <a:rPr lang="en-US" dirty="0">
                <a:latin typeface="Arial Narrow" panose="020B0606020202030204" pitchFamily="34" charset="0"/>
              </a:rPr>
              <a:t>No. of Observations: 667 patent full-text files</a:t>
            </a:r>
          </a:p>
          <a:p>
            <a:r>
              <a:rPr lang="en-US" dirty="0">
                <a:latin typeface="Arial Narrow" panose="020B0606020202030204" pitchFamily="34" charset="0"/>
              </a:rPr>
              <a:t>Column/Feature Details: Title, Abstract, Claims, Application Date, Publication Date, Applicants, CPC Codes</a:t>
            </a:r>
          </a:p>
          <a:p>
            <a:r>
              <a:rPr lang="en-US" dirty="0">
                <a:latin typeface="Arial Narrow"/>
                <a:ea typeface="Arial Narrow"/>
                <a:cs typeface="Arial Narrow"/>
                <a:sym typeface="Arial Narrow"/>
              </a:rPr>
              <a:t>Details about the columns – Text data</a:t>
            </a:r>
            <a:endParaRPr lang="en-US" dirty="0">
              <a:latin typeface="Arial Narrow" panose="020B0606020202030204" pitchFamily="34" charset="0"/>
            </a:endParaRPr>
          </a:p>
          <a:p>
            <a:r>
              <a:rPr lang="en-US" dirty="0">
                <a:latin typeface="Arial Narrow" panose="020B0606020202030204" pitchFamily="34" charset="0"/>
              </a:rPr>
              <a:t>Screenshot of the dataset: </a:t>
            </a:r>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pic>
        <p:nvPicPr>
          <p:cNvPr id="9" name="Picture 8">
            <a:extLst>
              <a:ext uri="{FF2B5EF4-FFF2-40B4-BE49-F238E27FC236}">
                <a16:creationId xmlns:a16="http://schemas.microsoft.com/office/drawing/2014/main" id="{C95B32C6-B2D0-2F8E-1753-54F48E5C9EE4}"/>
              </a:ext>
            </a:extLst>
          </p:cNvPr>
          <p:cNvPicPr>
            <a:picLocks noChangeAspect="1"/>
          </p:cNvPicPr>
          <p:nvPr/>
        </p:nvPicPr>
        <p:blipFill>
          <a:blip r:embed="rId3"/>
          <a:stretch>
            <a:fillRect/>
          </a:stretch>
        </p:blipFill>
        <p:spPr>
          <a:xfrm>
            <a:off x="4942721" y="3834016"/>
            <a:ext cx="7110125" cy="2589203"/>
          </a:xfrm>
          <a:prstGeom prst="rect">
            <a:avLst/>
          </a:prstGeom>
        </p:spPr>
      </p:pic>
    </p:spTree>
    <p:extLst>
      <p:ext uri="{BB962C8B-B14F-4D97-AF65-F5344CB8AC3E}">
        <p14:creationId xmlns:p14="http://schemas.microsoft.com/office/powerpoint/2010/main" val="2913472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Proposed Methodology</a:t>
            </a:r>
            <a:endParaRPr b="1">
              <a:latin typeface="Arial Narrow"/>
              <a:ea typeface="Arial Narrow"/>
              <a:cs typeface="Arial Narrow"/>
              <a:sym typeface="Arial Narrow"/>
            </a:endParaRPr>
          </a:p>
        </p:txBody>
      </p:sp>
      <p:sp>
        <p:nvSpPr>
          <p:cNvPr id="133" name="Google Shape;13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34" name="Google Shape;13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026" name="Picture 2">
            <a:extLst>
              <a:ext uri="{FF2B5EF4-FFF2-40B4-BE49-F238E27FC236}">
                <a16:creationId xmlns:a16="http://schemas.microsoft.com/office/drawing/2014/main" id="{CDCD2D8B-D042-C98F-4BBA-5E1E73365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839" y="1690688"/>
            <a:ext cx="5802284" cy="43990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Exploratory Data Analysis </a:t>
            </a:r>
            <a:endParaRPr/>
          </a:p>
        </p:txBody>
      </p:sp>
      <p:sp>
        <p:nvSpPr>
          <p:cNvPr id="140" name="Google Shape;140;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Screenshot of code</a:t>
            </a:r>
            <a:endParaRPr/>
          </a:p>
          <a:p>
            <a:pPr marL="228600" lvl="0" indent="-228600" algn="l" rtl="0">
              <a:lnSpc>
                <a:spcPct val="90000"/>
              </a:lnSpc>
              <a:spcBef>
                <a:spcPts val="1000"/>
              </a:spcBef>
              <a:spcAft>
                <a:spcPts val="0"/>
              </a:spcAft>
              <a:buClr>
                <a:schemeClr val="dk1"/>
              </a:buClr>
              <a:buSzPts val="2800"/>
              <a:buChar char="•"/>
            </a:pPr>
            <a:r>
              <a:rPr lang="en-US"/>
              <a:t>Output</a:t>
            </a:r>
            <a:endParaRPr/>
          </a:p>
          <a:p>
            <a:pPr marL="228600" lvl="0" indent="-228600" algn="l" rtl="0">
              <a:lnSpc>
                <a:spcPct val="90000"/>
              </a:lnSpc>
              <a:spcBef>
                <a:spcPts val="1000"/>
              </a:spcBef>
              <a:spcAft>
                <a:spcPts val="0"/>
              </a:spcAft>
              <a:buClr>
                <a:schemeClr val="dk1"/>
              </a:buClr>
              <a:buSzPts val="2800"/>
              <a:buChar char="•"/>
            </a:pPr>
            <a:r>
              <a:rPr lang="en-US"/>
              <a:t>Interpretation</a:t>
            </a:r>
            <a:endParaRPr/>
          </a:p>
          <a:p>
            <a:pPr marL="228600" lvl="0" indent="-228600" algn="l" rtl="0">
              <a:lnSpc>
                <a:spcPct val="90000"/>
              </a:lnSpc>
              <a:spcBef>
                <a:spcPts val="1000"/>
              </a:spcBef>
              <a:spcAft>
                <a:spcPts val="0"/>
              </a:spcAft>
              <a:buClr>
                <a:schemeClr val="dk1"/>
              </a:buClr>
              <a:buSzPts val="2800"/>
              <a:buChar char="•"/>
            </a:pPr>
            <a:r>
              <a:rPr lang="en-US"/>
              <a:t>Formulation of Research Problem and findings</a:t>
            </a:r>
            <a:endParaRPr/>
          </a:p>
        </p:txBody>
      </p:sp>
      <p:sp>
        <p:nvSpPr>
          <p:cNvPr id="141" name="Google Shape;14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66AC2FE-DF21-D579-BC3D-48C5A04426EA}"/>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6FCF6E57-5F89-2B8B-68E4-0D06800F717A}"/>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Exploratory Data Analysis </a:t>
            </a:r>
            <a:endParaRPr/>
          </a:p>
        </p:txBody>
      </p:sp>
      <p:sp>
        <p:nvSpPr>
          <p:cNvPr id="141" name="Google Shape;141;p7">
            <a:extLst>
              <a:ext uri="{FF2B5EF4-FFF2-40B4-BE49-F238E27FC236}">
                <a16:creationId xmlns:a16="http://schemas.microsoft.com/office/drawing/2014/main" id="{DB4C18C3-B9BC-39AA-B683-92645A207CA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9C320244-1927-1A8B-0B56-E529F6D4DE0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3" name="Picture 2">
            <a:extLst>
              <a:ext uri="{FF2B5EF4-FFF2-40B4-BE49-F238E27FC236}">
                <a16:creationId xmlns:a16="http://schemas.microsoft.com/office/drawing/2014/main" id="{59C51964-1207-3D87-3C06-D2BB2CC9BD3A}"/>
              </a:ext>
            </a:extLst>
          </p:cNvPr>
          <p:cNvPicPr>
            <a:picLocks noChangeAspect="1"/>
          </p:cNvPicPr>
          <p:nvPr/>
        </p:nvPicPr>
        <p:blipFill>
          <a:blip r:embed="rId3"/>
          <a:stretch>
            <a:fillRect/>
          </a:stretch>
        </p:blipFill>
        <p:spPr>
          <a:xfrm>
            <a:off x="838200" y="1452286"/>
            <a:ext cx="5563376" cy="3953427"/>
          </a:xfrm>
          <a:prstGeom prst="rect">
            <a:avLst/>
          </a:prstGeom>
        </p:spPr>
      </p:pic>
    </p:spTree>
    <p:extLst>
      <p:ext uri="{BB962C8B-B14F-4D97-AF65-F5344CB8AC3E}">
        <p14:creationId xmlns:p14="http://schemas.microsoft.com/office/powerpoint/2010/main" val="3524589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F16BACCA-5F76-90A5-5138-E40FAF403AD3}"/>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E8E5D491-9FD2-8A4B-F399-83FF680465B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Exploratory Data Analysis </a:t>
            </a:r>
            <a:endParaRPr/>
          </a:p>
        </p:txBody>
      </p:sp>
      <p:sp>
        <p:nvSpPr>
          <p:cNvPr id="141" name="Google Shape;141;p7">
            <a:extLst>
              <a:ext uri="{FF2B5EF4-FFF2-40B4-BE49-F238E27FC236}">
                <a16:creationId xmlns:a16="http://schemas.microsoft.com/office/drawing/2014/main" id="{F4C68412-D884-0D4C-D40D-CD025E997C2F}"/>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61561319-6A75-E997-DBB8-87BFB239AE0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4" name="Picture 3">
            <a:extLst>
              <a:ext uri="{FF2B5EF4-FFF2-40B4-BE49-F238E27FC236}">
                <a16:creationId xmlns:a16="http://schemas.microsoft.com/office/drawing/2014/main" id="{D53E910C-800F-A4DA-61A5-FCB687634FCE}"/>
              </a:ext>
            </a:extLst>
          </p:cNvPr>
          <p:cNvPicPr>
            <a:picLocks noChangeAspect="1"/>
          </p:cNvPicPr>
          <p:nvPr/>
        </p:nvPicPr>
        <p:blipFill>
          <a:blip r:embed="rId3"/>
          <a:stretch>
            <a:fillRect/>
          </a:stretch>
        </p:blipFill>
        <p:spPr>
          <a:xfrm>
            <a:off x="838200" y="1533884"/>
            <a:ext cx="6033099" cy="4822466"/>
          </a:xfrm>
          <a:prstGeom prst="rect">
            <a:avLst/>
          </a:prstGeom>
        </p:spPr>
      </p:pic>
    </p:spTree>
    <p:extLst>
      <p:ext uri="{BB962C8B-B14F-4D97-AF65-F5344CB8AC3E}">
        <p14:creationId xmlns:p14="http://schemas.microsoft.com/office/powerpoint/2010/main" val="1141327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84751BC-D5F9-D452-9B39-193BC0EF596C}"/>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FEA17B5B-A3D9-85E8-5FC9-51CAA66DD6A7}"/>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Exploratory Data Analysis </a:t>
            </a:r>
            <a:endParaRPr/>
          </a:p>
        </p:txBody>
      </p:sp>
      <p:sp>
        <p:nvSpPr>
          <p:cNvPr id="141" name="Google Shape;141;p7">
            <a:extLst>
              <a:ext uri="{FF2B5EF4-FFF2-40B4-BE49-F238E27FC236}">
                <a16:creationId xmlns:a16="http://schemas.microsoft.com/office/drawing/2014/main" id="{9701C75F-20AE-ED72-17EC-2364A6349EF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D9E00774-9B31-D642-C893-499E40DA746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6" name="Picture 5">
            <a:extLst>
              <a:ext uri="{FF2B5EF4-FFF2-40B4-BE49-F238E27FC236}">
                <a16:creationId xmlns:a16="http://schemas.microsoft.com/office/drawing/2014/main" id="{3062451A-4F38-3B08-5A7E-BF6429DC504A}"/>
              </a:ext>
            </a:extLst>
          </p:cNvPr>
          <p:cNvPicPr>
            <a:picLocks noChangeAspect="1"/>
          </p:cNvPicPr>
          <p:nvPr/>
        </p:nvPicPr>
        <p:blipFill>
          <a:blip r:embed="rId3"/>
          <a:stretch>
            <a:fillRect/>
          </a:stretch>
        </p:blipFill>
        <p:spPr>
          <a:xfrm>
            <a:off x="201092" y="1494845"/>
            <a:ext cx="7675015" cy="4608416"/>
          </a:xfrm>
          <a:prstGeom prst="rect">
            <a:avLst/>
          </a:prstGeom>
        </p:spPr>
      </p:pic>
    </p:spTree>
    <p:extLst>
      <p:ext uri="{BB962C8B-B14F-4D97-AF65-F5344CB8AC3E}">
        <p14:creationId xmlns:p14="http://schemas.microsoft.com/office/powerpoint/2010/main" val="2297937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98CE487-6B91-6B32-E846-2DFAD9E4D077}"/>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ECB31DFE-939D-D429-F79F-8B035E878C19}"/>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Exploratory Data Analysis </a:t>
            </a:r>
            <a:endParaRPr/>
          </a:p>
        </p:txBody>
      </p:sp>
      <p:sp>
        <p:nvSpPr>
          <p:cNvPr id="141" name="Google Shape;141;p7">
            <a:extLst>
              <a:ext uri="{FF2B5EF4-FFF2-40B4-BE49-F238E27FC236}">
                <a16:creationId xmlns:a16="http://schemas.microsoft.com/office/drawing/2014/main" id="{A58E85A9-548C-CCE4-7C2A-71A7C29EC64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7D183FD6-D7C3-64CE-AE02-1C0B206E4AE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4" name="Picture 3">
            <a:extLst>
              <a:ext uri="{FF2B5EF4-FFF2-40B4-BE49-F238E27FC236}">
                <a16:creationId xmlns:a16="http://schemas.microsoft.com/office/drawing/2014/main" id="{1A3AF765-47A5-46D9-0859-8D0364224343}"/>
              </a:ext>
            </a:extLst>
          </p:cNvPr>
          <p:cNvPicPr>
            <a:picLocks noChangeAspect="1"/>
          </p:cNvPicPr>
          <p:nvPr/>
        </p:nvPicPr>
        <p:blipFill>
          <a:blip r:embed="rId3"/>
          <a:stretch>
            <a:fillRect/>
          </a:stretch>
        </p:blipFill>
        <p:spPr>
          <a:xfrm>
            <a:off x="461808" y="1481596"/>
            <a:ext cx="7316200" cy="4874754"/>
          </a:xfrm>
          <a:prstGeom prst="rect">
            <a:avLst/>
          </a:prstGeom>
        </p:spPr>
      </p:pic>
    </p:spTree>
    <p:extLst>
      <p:ext uri="{BB962C8B-B14F-4D97-AF65-F5344CB8AC3E}">
        <p14:creationId xmlns:p14="http://schemas.microsoft.com/office/powerpoint/2010/main" val="2175552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Next Step of Research Focus</a:t>
            </a:r>
            <a:endParaRPr/>
          </a:p>
        </p:txBody>
      </p:sp>
      <p:sp>
        <p:nvSpPr>
          <p:cNvPr id="148" name="Google Shape;14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35000" indent="-457200">
              <a:spcBef>
                <a:spcPts val="0"/>
              </a:spcBef>
              <a:buSzPts val="2800"/>
            </a:pPr>
            <a:r>
              <a:rPr lang="en-US" dirty="0"/>
              <a:t>Selection of NLP techniques to understand broader themes in autonomous vehicle research</a:t>
            </a:r>
          </a:p>
          <a:p>
            <a:pPr marL="635000" indent="-457200">
              <a:spcBef>
                <a:spcPts val="0"/>
              </a:spcBef>
              <a:buSzPts val="2800"/>
            </a:pPr>
            <a:r>
              <a:rPr lang="en-US" dirty="0"/>
              <a:t>Restructure data to prepare a pipeline for further ML operations</a:t>
            </a:r>
          </a:p>
          <a:p>
            <a:pPr marL="635000" indent="-457200">
              <a:spcBef>
                <a:spcPts val="0"/>
              </a:spcBef>
              <a:buSzPts val="2800"/>
            </a:pPr>
            <a:r>
              <a:rPr lang="en-US" dirty="0"/>
              <a:t>Develop a system for trend analysis and predictive modeling</a:t>
            </a:r>
          </a:p>
        </p:txBody>
      </p:sp>
      <p:sp>
        <p:nvSpPr>
          <p:cNvPr id="149" name="Google Shape;14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50" name="Google Shape;15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Conclusion</a:t>
            </a:r>
            <a:endParaRPr/>
          </a:p>
        </p:txBody>
      </p:sp>
      <p:sp>
        <p:nvSpPr>
          <p:cNvPr id="156" name="Google Shape;156;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spcBef>
                <a:spcPts val="0"/>
              </a:spcBef>
              <a:buSzPts val="2800"/>
              <a:buNone/>
            </a:pPr>
            <a:r>
              <a:rPr lang="en-US" dirty="0"/>
              <a:t>The extracted patent data has been successfully structured and analyzed, revealing consistent formatting across documents and highlighting key players, technological trends, and classification patterns. These early findings establish a strong foundation for deeper NLP-driven insights and subsequent machine learning applications in the next phases.</a:t>
            </a:r>
            <a:endParaRPr dirty="0"/>
          </a:p>
        </p:txBody>
      </p:sp>
      <p:sp>
        <p:nvSpPr>
          <p:cNvPr id="157" name="Google Shape;15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58" name="Google Shape;15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 APA format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518699"/>
            <a:ext cx="10515600" cy="4658264"/>
          </a:xfrm>
        </p:spPr>
        <p:txBody>
          <a:bodyPr>
            <a:normAutofit fontScale="77500" lnSpcReduction="20000"/>
          </a:bodyPr>
          <a:lstStyle/>
          <a:p>
            <a:r>
              <a:rPr lang="en-US" sz="2000" b="1" dirty="0">
                <a:latin typeface="Arial Narrow" panose="020B0606020202030204" pitchFamily="34" charset="0"/>
              </a:rPr>
              <a:t>Base Paper:</a:t>
            </a:r>
          </a:p>
          <a:p>
            <a:pPr lvl="1"/>
            <a:r>
              <a:rPr lang="en-US" sz="2100" dirty="0"/>
              <a:t>Trappey, A. J. C., Trappey, C. V., Wu, J.-L., &amp; Wang, J. W. C. (2020). Intelligent compilation of patent summaries using machine learning and natural language processing techniques. </a:t>
            </a:r>
            <a:r>
              <a:rPr lang="en-US" sz="2100" i="1" dirty="0"/>
              <a:t>Advanced Engineering Informatics, 43</a:t>
            </a:r>
            <a:r>
              <a:rPr lang="en-US" sz="2100" dirty="0"/>
              <a:t>, 101027. </a:t>
            </a:r>
            <a:r>
              <a:rPr lang="en-US" sz="2100" dirty="0">
                <a:hlinkClick r:id="rId2"/>
              </a:rPr>
              <a:t>https://doi.org/10.1016/j.aei.2019.101027</a:t>
            </a:r>
            <a:endParaRPr lang="en-US" sz="2100" dirty="0"/>
          </a:p>
          <a:p>
            <a:pPr lvl="1"/>
            <a:r>
              <a:rPr lang="en-IN" sz="2100" dirty="0">
                <a:hlinkClick r:id="rId3"/>
              </a:rPr>
              <a:t>Link to Paper</a:t>
            </a:r>
            <a:endParaRPr lang="en-US" sz="2100" b="1" dirty="0">
              <a:latin typeface="Arial Narrow" panose="020B0606020202030204" pitchFamily="34" charset="0"/>
            </a:endParaRPr>
          </a:p>
          <a:p>
            <a:r>
              <a:rPr lang="en-IN" sz="2000" b="1" dirty="0">
                <a:latin typeface="Arial Narrow" panose="020B0606020202030204" pitchFamily="34" charset="0"/>
              </a:rPr>
              <a:t>Paper I:</a:t>
            </a:r>
          </a:p>
          <a:p>
            <a:pPr lvl="1"/>
            <a:r>
              <a:rPr lang="en-US" sz="2100" dirty="0"/>
              <a:t>Cho, R. L. T., Liu, J. S., &amp; Ho, M. H. C. (2021). The development of autonomous driving technology: perspectives from patent citation analysis. </a:t>
            </a:r>
            <a:r>
              <a:rPr lang="en-US" sz="2100" i="1" dirty="0"/>
              <a:t>Transport Reviews</a:t>
            </a:r>
            <a:r>
              <a:rPr lang="en-US" sz="2100" dirty="0"/>
              <a:t>, </a:t>
            </a:r>
            <a:r>
              <a:rPr lang="en-US" sz="2100" i="1" dirty="0"/>
              <a:t>41</a:t>
            </a:r>
            <a:r>
              <a:rPr lang="en-US" sz="2100" dirty="0"/>
              <a:t>(5), 685–711. </a:t>
            </a:r>
            <a:r>
              <a:rPr lang="en-US" sz="2100" dirty="0">
                <a:hlinkClick r:id="rId4"/>
              </a:rPr>
              <a:t>https://doi.org/10.1080/01441647.2021.1879310</a:t>
            </a:r>
            <a:endParaRPr lang="en-IN" sz="2100" b="1" dirty="0">
              <a:latin typeface="Arial Narrow" panose="020B0606020202030204" pitchFamily="34" charset="0"/>
            </a:endParaRPr>
          </a:p>
          <a:p>
            <a:pPr lvl="1"/>
            <a:r>
              <a:rPr lang="en-IN" sz="2100" dirty="0">
                <a:hlinkClick r:id="rId5"/>
              </a:rPr>
              <a:t>Link to Paper</a:t>
            </a:r>
            <a:endParaRPr lang="en-IN" sz="2100" dirty="0"/>
          </a:p>
          <a:p>
            <a:r>
              <a:rPr lang="en-IN" sz="2000" b="1" dirty="0">
                <a:latin typeface="Arial Narrow" panose="020B0606020202030204" pitchFamily="34" charset="0"/>
              </a:rPr>
              <a:t>Paper II:</a:t>
            </a:r>
          </a:p>
          <a:p>
            <a:pPr lvl="1"/>
            <a:r>
              <a:rPr lang="en-US" sz="2000" dirty="0"/>
              <a:t>Kim, G., &amp; Bae, J. (2017). A novel approach to forecast promising technology through patent analysis. </a:t>
            </a:r>
            <a:r>
              <a:rPr lang="en-US" sz="2000" i="1" dirty="0"/>
              <a:t>Technological Forecasting and Social Change, 117</a:t>
            </a:r>
            <a:r>
              <a:rPr lang="en-US" sz="2000" dirty="0"/>
              <a:t>, 228–237. </a:t>
            </a:r>
            <a:r>
              <a:rPr lang="en-US" sz="2000" dirty="0">
                <a:hlinkClick r:id="rId6"/>
              </a:rPr>
              <a:t>https://doi.org/10.1016/j.techfore.2016.11.023</a:t>
            </a:r>
            <a:endParaRPr lang="en-US" sz="2000" dirty="0"/>
          </a:p>
          <a:p>
            <a:pPr lvl="1"/>
            <a:r>
              <a:rPr lang="en-US" sz="2300" dirty="0">
                <a:solidFill>
                  <a:srgbClr val="000000"/>
                </a:solidFill>
                <a:hlinkClick r:id="rId7"/>
              </a:rPr>
              <a:t>Link to Paper</a:t>
            </a:r>
            <a:endParaRPr lang="en-IN" sz="2300" u="sng" dirty="0">
              <a:solidFill>
                <a:srgbClr val="1155CC"/>
              </a:solidFill>
            </a:endParaRPr>
          </a:p>
          <a:p>
            <a:r>
              <a:rPr lang="en-IN" sz="2000" b="1" dirty="0">
                <a:latin typeface="Arial Narrow" panose="020B0606020202030204" pitchFamily="34" charset="0"/>
              </a:rPr>
              <a:t>Paper III:</a:t>
            </a:r>
          </a:p>
          <a:p>
            <a:pPr lvl="1"/>
            <a:r>
              <a:rPr lang="en-IN" sz="2000" dirty="0"/>
              <a:t>Lattimer, B., Chen, P. H., Zhang, X., &amp; Yang, Y. (2023). Fast and accurate factual inconsistency detection over long documents. In H. </a:t>
            </a:r>
            <a:r>
              <a:rPr lang="en-IN" sz="2000" dirty="0" err="1"/>
              <a:t>Bouamor</a:t>
            </a:r>
            <a:r>
              <a:rPr lang="en-IN" sz="2000" dirty="0"/>
              <a:t>, J. Pino, &amp; K. Bali (Eds.), </a:t>
            </a:r>
            <a:r>
              <a:rPr lang="en-IN" sz="2000" i="1" dirty="0"/>
              <a:t>Proceedings of the 2023 Conference on Empirical Methods in Natural Language Processing</a:t>
            </a:r>
            <a:r>
              <a:rPr lang="en-IN" sz="2000" dirty="0"/>
              <a:t> (pp. 1691-1703). Association for Computational Linguistics. </a:t>
            </a:r>
            <a:r>
              <a:rPr lang="en-IN" sz="2000" dirty="0">
                <a:hlinkClick r:id="rId8"/>
              </a:rPr>
              <a:t>https://doi.org/10.18653/v1/2023.emnlp-main.105</a:t>
            </a:r>
            <a:endParaRPr lang="en-IN" sz="2000" dirty="0"/>
          </a:p>
          <a:p>
            <a:pPr lvl="1"/>
            <a:r>
              <a:rPr lang="en-US" sz="2300" dirty="0">
                <a:solidFill>
                  <a:srgbClr val="000000"/>
                </a:solidFill>
                <a:hlinkClick r:id="rId9"/>
              </a:rPr>
              <a:t>Link to Paper</a:t>
            </a:r>
            <a:endParaRPr lang="en-IN" sz="2300" b="1"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14</a:t>
            </a:fld>
            <a:endParaRPr lang="en-IN"/>
          </a:p>
        </p:txBody>
      </p:sp>
    </p:spTree>
    <p:extLst>
      <p:ext uri="{BB962C8B-B14F-4D97-AF65-F5344CB8AC3E}">
        <p14:creationId xmlns:p14="http://schemas.microsoft.com/office/powerpoint/2010/main" val="313451868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405</TotalTime>
  <Words>932</Words>
  <Application>Microsoft Office PowerPoint</Application>
  <PresentationFormat>Widescreen</PresentationFormat>
  <Paragraphs>90</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 Narrow</vt:lpstr>
      <vt:lpstr>Arial</vt:lpstr>
      <vt:lpstr>Calibri</vt:lpstr>
      <vt:lpstr>Office Theme</vt:lpstr>
      <vt:lpstr>Analyzing Technological Trends in Autonomous Vehicles through Patent Text Mining and Predictive Modeling   </vt:lpstr>
      <vt:lpstr>Problem Statement</vt:lpstr>
      <vt:lpstr>Objectives</vt:lpstr>
      <vt:lpstr>Review of Related Literature</vt:lpstr>
      <vt:lpstr>Dataset</vt:lpstr>
      <vt:lpstr>Proposed Methodology</vt:lpstr>
      <vt:lpstr>Exploratory Data Analysis </vt:lpstr>
      <vt:lpstr>Exploratory Data Analysis </vt:lpstr>
      <vt:lpstr>Exploratory Data Analysis </vt:lpstr>
      <vt:lpstr>Exploratory Data Analysis </vt:lpstr>
      <vt:lpstr>Exploratory Data Analysis </vt:lpstr>
      <vt:lpstr>Next Step of Research Focus</vt:lpstr>
      <vt:lpstr>Conclusion</vt:lpstr>
      <vt:lpstr>References : APA format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Angay</dc:creator>
  <cp:lastModifiedBy>Aniket Shinde</cp:lastModifiedBy>
  <cp:revision>3</cp:revision>
  <dcterms:created xsi:type="dcterms:W3CDTF">2023-11-15T14:09:37Z</dcterms:created>
  <dcterms:modified xsi:type="dcterms:W3CDTF">2025-06-12T11:34:47Z</dcterms:modified>
</cp:coreProperties>
</file>