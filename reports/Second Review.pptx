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73" r:id="rId2"/>
    <p:sldId id="267" r:id="rId3"/>
    <p:sldId id="268" r:id="rId4"/>
    <p:sldId id="272" r:id="rId5"/>
    <p:sldId id="257" r:id="rId6"/>
    <p:sldId id="261" r:id="rId7"/>
    <p:sldId id="269" r:id="rId8"/>
    <p:sldId id="275" r:id="rId9"/>
    <p:sldId id="260" r:id="rId10"/>
    <p:sldId id="276" r:id="rId11"/>
    <p:sldId id="274" r:id="rId12"/>
    <p:sldId id="278" r:id="rId13"/>
    <p:sldId id="313" r:id="rId14"/>
    <p:sldId id="314" r:id="rId15"/>
    <p:sldId id="316" r:id="rId16"/>
    <p:sldId id="315" r:id="rId17"/>
    <p:sldId id="317" r:id="rId18"/>
    <p:sldId id="318" r:id="rId19"/>
    <p:sldId id="319" r:id="rId20"/>
    <p:sldId id="320" r:id="rId21"/>
    <p:sldId id="321" r:id="rId22"/>
    <p:sldId id="322" r:id="rId23"/>
    <p:sldId id="323" r:id="rId24"/>
    <p:sldId id="324" r:id="rId25"/>
    <p:sldId id="325" r:id="rId26"/>
    <p:sldId id="326" r:id="rId27"/>
    <p:sldId id="330" r:id="rId28"/>
    <p:sldId id="327" r:id="rId29"/>
    <p:sldId id="328" r:id="rId30"/>
    <p:sldId id="329" r:id="rId31"/>
    <p:sldId id="265" r:id="rId32"/>
    <p:sldId id="264" r:id="rId33"/>
    <p:sldId id="27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8" d="100"/>
          <a:sy n="98" d="100"/>
        </p:scale>
        <p:origin x="110" y="1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9:37:01.524"/>
    </inkml:context>
    <inkml:brush xml:id="br0">
      <inkml:brushProperty name="width" value="0.35" units="cm"/>
      <inkml:brushProperty name="height" value="0.35" units="cm"/>
      <inkml:brushProperty name="color" value="#FFFFFF"/>
    </inkml:brush>
  </inkml:definitions>
  <inkml:trace contextRef="#ctx0" brushRef="#br0">696 250 24575,'-15'2'0,"0"0"0,-1 2 0,2-1 0,-1 2 0,0 0 0,-26 13 0,18-8 0,-170 85 0,107-49 0,62-34 0,0 2 0,1 0 0,0 2 0,2 0 0,0 2 0,-24 24 0,37-33 0,-1 1 0,2 0 0,-1 0 0,2 1 0,-1 0 0,1 0 0,1 0 0,0 1 0,1-1 0,0 1 0,1 0 0,0 1 0,0-1 0,2 0 0,0 1 0,0 12 0,1-20 0,0 0 0,1 1 0,0-1 0,0 0 0,0-1 0,0 1 0,1 0 0,0 0 0,0 0 0,0-1 0,1 1 0,-1-1 0,1 0 0,0 0 0,4 4 0,-2-3 0,1 0 0,-1-1 0,1 0 0,0 0 0,0 0 0,0-1 0,1 1 0,-1-2 0,12 4 0,9 1 0,0-2 0,1-2 0,-1 0 0,39-2 0,-60-1 0,24 0 0,1-2 0,0 0 0,-1-3 0,0 0 0,0-2 0,0-2 0,-1 0 0,36-17 0,-27 7 0,-1-2 0,-1-1 0,-1-2 0,-1-2 0,46-43 0,-31 23 0,-2-1 0,64-84 0,-106 123 0,0 0 0,0 0 0,-1 0 0,0 0 0,3-11 0,-6 18 0,-1 0 0,1 0 0,-1 0 0,0 0 0,1 0 0,-1-1 0,0 1 0,0 0 0,0 0 0,0 0 0,0 0 0,0-1 0,0 1 0,0 0 0,-1 0 0,1 0 0,0 0 0,-1 0 0,1-1 0,-1 1 0,1 0 0,-1 0 0,1 0 0,-1 0 0,0 0 0,-1-1 0,1 1 0,-1 1 0,1-1 0,-1 1 0,0-1 0,1 1 0,-1 0 0,1-1 0,-1 1 0,0 0 0,1 0 0,-1 0 0,1 0 0,-1 1 0,0-1 0,1 0 0,-1 1 0,1-1 0,-3 2 0,-8 3 0,0 1 0,1 0 0,0 0 0,0 1 0,1 1 0,-18 15 0,-46 54 0,52-53 0,42-44 0,51-52 0,67-89 0,-74 78 0,67-98 0,-165 220 0,-435 612 0,122-165 0,92-173 0,234-291 171,19-21-54,5-5-63,29-32-1761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9:37:10.611"/>
    </inkml:context>
    <inkml:brush xml:id="br0">
      <inkml:brushProperty name="width" value="0.35" units="cm"/>
      <inkml:brushProperty name="height" value="0.35" units="cm"/>
      <inkml:brushProperty name="color" value="#FFFFFF"/>
    </inkml:brush>
  </inkml:definitions>
  <inkml:trace contextRef="#ctx0" brushRef="#br0">225 958 24575,'-1'-3'0,"-1"0"0,1 0 0,0 0 0,0 0 0,0 0 0,0 0 0,1-1 0,-1 1 0,1 0 0,0 0 0,0-1 0,0-3 0,7-41 0,-4 35 0,1-8 0,0-1 0,2 1 0,1 0 0,1 1 0,16-32 0,-21 46 0,0 0 0,0 1 0,1 0 0,-1 0 0,1 0 0,0 0 0,1 0 0,-1 1 0,1 0 0,0 0 0,0 0 0,1 0 0,-1 1 0,0 0 0,1 0 0,0 0 0,0 1 0,0 0 0,0 0 0,0 1 0,0-1 0,1 1 0,10 0 0,-14 2 0,0-1 0,0 1 0,0-1 0,0 1 0,0 0 0,0 0 0,0 1 0,0-1 0,0 1 0,0-1 0,-1 1 0,1 0 0,-1 0 0,1 0 0,-1 0 0,0 1 0,1-1 0,-1 1 0,-1-1 0,1 1 0,0-1 0,-1 1 0,1 0 0,-1 0 0,2 6 0,2 5 0,-1 1 0,0 0 0,-2 0 0,2 17 0,0 29 0,-4-43 0,1 0 0,0 0 0,1-1 0,9 34 0,-10-50 0,-1 1 0,1 0 0,0 0 0,0-1 0,-1 1 0,1 0 0,0-1 0,0 1 0,1-1 0,-1 1 0,0-1 0,0 1 0,1-1 0,-1 0 0,1 0 0,-1 0 0,3 2 0,-3-3 0,1 0 0,-1 1 0,0-1 0,1 0 0,-1 0 0,0 0 0,1 0 0,-1 0 0,0 0 0,1 0 0,-1-1 0,0 1 0,1 0 0,-1-1 0,0 1 0,0-1 0,1 1 0,1-2 0,3-3 0,0 1 0,-1-1 0,1 0 0,-1 0 0,0-1 0,0 0 0,5-7 0,56-78 0,42-63 0,-106 150 0,1 0 0,-1 0 0,0-1 0,0 1 0,-1 0 0,1 0 0,-1-1 0,1-5 0,-2 9 0,0 0 0,0 0 0,0 1 0,0-1 0,0 0 0,0 0 0,-1 1 0,1-1 0,0 0 0,0 1 0,-1-1 0,1 0 0,0 1 0,-1-1 0,1 1 0,0-1 0,-1 0 0,1 1 0,-1-1 0,1 1 0,-2-1 0,1 0 0,-1 0 0,1 1 0,-1-1 0,1 1 0,-1-1 0,0 1 0,1-1 0,-1 1 0,0 0 0,1 0 0,-1 0 0,-2 0 0,-8 1 0,1 0 0,0 1 0,0 0 0,0 0 0,0 1 0,1 1 0,-1 0 0,1 0 0,0 1 0,0 1 0,0-1 0,1 2 0,0-1 0,0 1 0,-8 8 0,-8 13 0,0 0 0,2 1 0,-24 39 0,4-4 0,-63 91 0,-69 91 0,152-216 0,-20 33 0,27-39 0,14-20 0,-1 0 0,0-1 0,1 1 0,-1-1 0,-1 0 0,1 0 0,0 0 0,-7 4 0,9-6 0,0-1 0,0 1 0,0-1 0,0 1 0,0-1 0,0 0 0,0 0 0,0 0 0,-1 1 0,1-1 0,0 0 0,0 0 0,0-1 0,0 1 0,0 0 0,0 0 0,0 0 0,0-1 0,0 1 0,0 0 0,0-1 0,0 1 0,0-1 0,0 0 0,0 1 0,0-1 0,0 1 0,1-1 0,-1 0 0,0 0 0,0 0 0,1 1 0,-1-1 0,0 0 0,1 0 0,-1 0 0,1 0 0,-1-1 0,-1-7 0,16 7 0,-7 2 0,14 1 0,0-2 0,1 0 0,-1-1 0,0-2 0,0 0 0,-1-1 0,27-10 0,-16 1 0,-1-1 0,0-2 0,-1-1 0,-1-1 0,36-32 0,-23 12 0,-1-1 0,51-69 0,46-54 0,179-164 0,-92 101 0,-209 211 0,0-2 0,0 1 0,-2-2 0,0 0 0,-1 0 0,-1-2 0,10-22 0,-15 28 0,-3 3 0,2 0 0,0 1 0,0-1 0,8-10 0,-11 18 0,0 1 0,0-1 0,0 1 0,1-1 0,-1 1 0,1 0 0,-1 0 0,1 0 0,0 0 0,0 0 0,0 1 0,0-1 0,0 1 0,0 0 0,0 0 0,1 0 0,-1 0 0,0 1 0,5-1 0,46 2 0,-46 1 0,0-2 0,1 1 0,-1-1 0,0 0 0,0-1 0,0 0 0,1 0 0,-1-1 0,0 0 0,-1-1 0,14-5 0,-5-3 0,-23 10 0,-33 16 0,-5 11 0,1 2 0,2 2 0,1 2 0,-53 53 0,75-71 0,18-14 0,1 0 0,0-1 0,0 1 0,0 0 0,-1 0 0,1 0 0,0-1 0,0 1 0,0 0 0,0-1 0,-1 1 0,1 0 0,0 0 0,0-1 0,0 1 0,0 0 0,0-1 0,0 1 0,0 0 0,0-1 0,0 1 0,0 0 0,0 0 0,0-1 0,0 1 0,0 0 0,0-1 0,0 1 0,0 0 0,1-1 0,-1 1 0,0 0 0,0 0 0,0-1 0,0 1 0,1 0 0,18-44 0,-17 40 0,27-58 0,17-32 0,-44 91 0,0-1 0,0 1 0,-1-1 0,1 1 0,-1-1 0,0 0 0,0 1 0,0-1 0,-1 0 0,1-4 0,-1 8 0,0-1 0,0 1 0,0 0 0,0-1 0,0 1 0,0 0 0,0-1 0,-1 1 0,1-1 0,0 1 0,0 0 0,0-1 0,0 1 0,-1 0 0,1-1 0,0 1 0,0 0 0,0 0 0,-1-1 0,1 1 0,0 0 0,-1 0 0,1-1 0,0 1 0,-1 0 0,1 0 0,0 0 0,-1 0 0,1-1 0,0 1 0,-1 0 0,1 0 0,0 0 0,-1 0 0,0 0 0,-1 0 0,0 1 0,0-1 0,0 1 0,0 0 0,0 0 0,0-1 0,0 1 0,0 1 0,0-1 0,0 0 0,-1 2 0,-21 15 0,2 2 0,0 0 0,1 2 0,1 0 0,-24 36 0,-71 133 0,108-179 0,1-1 0,-2 1 0,-9 11 0,16-22 0,1 0 0,-1 0 0,1 0 0,-1 0 0,0-1 0,0 1 0,1 0 0,-1 0 0,0-1 0,0 1 0,0-1 0,0 1 0,0-1 0,0 1 0,0-1 0,0 1 0,0-1 0,0 0 0,0 1 0,0-1 0,0 0 0,0 0 0,0 0 0,0 0 0,0 0 0,0 0 0,0 0 0,-2-1 0,2 0 0,0 0 0,0 0 0,1 0 0,-1 0 0,0 0 0,0 0 0,1 0 0,-1-1 0,1 1 0,-1 0 0,1-1 0,-1 1 0,1 0 0,0-1 0,0 1 0,0 0 0,0-1 0,0 1 0,0 0 0,0-1 0,0 0 0,1-10 0,1 0 0,1 0 0,0 0 0,0 0 0,1 1 0,0-1 0,1 1 0,8-13 0,60-88 0,-27 45 0,-40 56 0,0 0 0,10-22 0,-15 30 0,0 1 0,-1-1 0,1 0 0,0 0 0,-1 1 0,0-1 0,1 0 0,-1 0 0,0 0 0,0 1 0,-1-1 0,1 0 0,-1 0 0,1 1 0,-1-1 0,0 0 0,-1-2 0,1 3 0,1 1 0,-1 0 0,0 0 0,1 1 0,-1-1 0,0 0 0,0 0 0,0 0 0,1 0 0,-1 1 0,0-1 0,0 0 0,0 1 0,0-1 0,0 1 0,0-1 0,-1 1 0,1-1 0,0 1 0,0 0 0,0 0 0,0 0 0,0-1 0,-1 1 0,1 0 0,0 0 0,0 1 0,0-1 0,-2 0 0,-3 2 0,1-1 0,0 1 0,0 0 0,1 0 0,-9 5 0,-3 4 57,1 0 0,0 1-1,0 0 1,1 1 0,-21 26 0,-55 82-1534,85-113 1248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9358BF-5E3A-4811-B791-3537E5F14C31}" type="datetimeFigureOut">
              <a:rPr lang="en-IN" smtClean="0"/>
              <a:t>17-06-2025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1CF65-329B-4FC0-BD81-F7BF02420C6C}" type="slidenum">
              <a:rPr lang="en-IN" smtClean="0"/>
              <a:t>‹#›</a:t>
            </a:fld>
            <a:endParaRPr lang="en-IN"/>
          </a:p>
        </p:txBody>
      </p:sp>
    </p:spTree>
    <p:extLst>
      <p:ext uri="{BB962C8B-B14F-4D97-AF65-F5344CB8AC3E}">
        <p14:creationId xmlns:p14="http://schemas.microsoft.com/office/powerpoint/2010/main" val="503527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74EFEE0-0CD7-45A5-A730-5EC8BDE0D8D9}" type="datetime1">
              <a:rPr lang="en-IN" smtClean="0"/>
              <a:t>17-06-2025</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72579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FB7DE58-FC96-420A-ACEA-15241A896A4C}" type="datetime1">
              <a:rPr lang="en-IN" smtClean="0"/>
              <a:t>17-06-2025</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941452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649E9C-B3B6-46FE-A568-B9D577388D42}" type="datetime1">
              <a:rPr lang="en-IN" smtClean="0"/>
              <a:t>17-06-2025</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751758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23CA508-102F-45DB-994A-FCDA0CAE14C8}" type="datetime1">
              <a:rPr lang="en-IN" smtClean="0"/>
              <a:t>17-06-2025</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36824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2CC774E-B8A2-4F5C-B5FA-D785A0C05A2E}" type="datetime1">
              <a:rPr lang="en-IN" smtClean="0"/>
              <a:t>17-06-2025</a:t>
            </a:fld>
            <a:endParaRPr lang="en-IN"/>
          </a:p>
        </p:txBody>
      </p:sp>
      <p:sp>
        <p:nvSpPr>
          <p:cNvPr id="8" name="Footer Placeholder 7"/>
          <p:cNvSpPr>
            <a:spLocks noGrp="1"/>
          </p:cNvSpPr>
          <p:nvPr>
            <p:ph type="ftr" sz="quarter" idx="11"/>
          </p:nvPr>
        </p:nvSpPr>
        <p:spPr/>
        <p:txBody>
          <a:bodyPr/>
          <a:lstStyle/>
          <a:p>
            <a:r>
              <a:rPr lang="en-IN"/>
              <a:t>CS6501 Project I PGP, ICER, VIT Bangalore</a:t>
            </a:r>
          </a:p>
        </p:txBody>
      </p:sp>
      <p:sp>
        <p:nvSpPr>
          <p:cNvPr id="9" name="Slide Number Placeholder 8"/>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55596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09F70BE-0155-47E7-8509-A88648CCEC82}" type="datetime1">
              <a:rPr lang="en-IN" smtClean="0"/>
              <a:t>17-06-2025</a:t>
            </a:fld>
            <a:endParaRPr lang="en-IN"/>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95639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D7DE71-85FA-4296-BD22-FA3717DCA8E2}" type="datetime1">
              <a:rPr lang="en-IN" smtClean="0"/>
              <a:t>17-06-2025</a:t>
            </a:fld>
            <a:endParaRPr lang="en-IN"/>
          </a:p>
        </p:txBody>
      </p:sp>
      <p:sp>
        <p:nvSpPr>
          <p:cNvPr id="3" name="Footer Placeholder 2"/>
          <p:cNvSpPr>
            <a:spLocks noGrp="1"/>
          </p:cNvSpPr>
          <p:nvPr>
            <p:ph type="ftr" sz="quarter" idx="11"/>
          </p:nvPr>
        </p:nvSpPr>
        <p:spPr/>
        <p:txBody>
          <a:bodyPr/>
          <a:lstStyle/>
          <a:p>
            <a:r>
              <a:rPr lang="en-IN"/>
              <a:t>CS6501 Project I PGP, ICER, VIT Bangalore</a:t>
            </a:r>
          </a:p>
        </p:txBody>
      </p:sp>
      <p:sp>
        <p:nvSpPr>
          <p:cNvPr id="4" name="Slide Number Placeholder 3"/>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21202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C2EEF0E-D1E3-413E-934B-8549D7D1A21A}" type="datetime1">
              <a:rPr lang="en-IN" smtClean="0"/>
              <a:t>17-06-2025</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531410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E472768-1913-4B51-9959-F62F8ED684BE}" type="datetime1">
              <a:rPr lang="en-IN" smtClean="0"/>
              <a:t>17-06-2025</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15819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14653BA-939B-4E91-B3F4-265E71AFADD6}" type="datetime1">
              <a:rPr lang="en-IN" smtClean="0"/>
              <a:t>17-06-2025</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327652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ACCF933-5EA4-4E01-9CD8-F0B091D3891D}" type="datetime1">
              <a:rPr lang="en-IN" smtClean="0"/>
              <a:t>17-06-2025</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394640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4838B7-DBF2-4351-ADC6-B01D4416F11D}" type="datetime1">
              <a:rPr lang="en-IN" smtClean="0"/>
              <a:t>17-06-2025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CS6501 Project I PGP, ICER, VIT Bangalore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EDC104-672A-4227-99C4-0E2CC007FDBA}" type="slidenum">
              <a:rPr lang="en-IN" smtClean="0"/>
              <a:t>‹#›</a:t>
            </a:fld>
            <a:endParaRPr lang="en-IN"/>
          </a:p>
        </p:txBody>
      </p:sp>
    </p:spTree>
    <p:extLst>
      <p:ext uri="{BB962C8B-B14F-4D97-AF65-F5344CB8AC3E}">
        <p14:creationId xmlns:p14="http://schemas.microsoft.com/office/powerpoint/2010/main" val="3716317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lens.or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customXml" Target="../ink/ink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hyperlink" Target="https://doi.org/10.18653/v1/2023.emnlp-main.105" TargetMode="External"/><Relationship Id="rId3" Type="http://schemas.openxmlformats.org/officeDocument/2006/relationships/hyperlink" Target="https://www.sciencedirect.com/science/article/pii/S1474034619306007" TargetMode="External"/><Relationship Id="rId7" Type="http://schemas.openxmlformats.org/officeDocument/2006/relationships/hyperlink" Target="https://www.sciencedirect.com/science/article/pii/S0040162516307661" TargetMode="External"/><Relationship Id="rId2" Type="http://schemas.openxmlformats.org/officeDocument/2006/relationships/hyperlink" Target="https://doi.org/10.1016/j.aei.2019.101027" TargetMode="External"/><Relationship Id="rId1" Type="http://schemas.openxmlformats.org/officeDocument/2006/relationships/slideLayout" Target="../slideLayouts/slideLayout2.xml"/><Relationship Id="rId6" Type="http://schemas.openxmlformats.org/officeDocument/2006/relationships/hyperlink" Target="https://doi.org/10.1016/j.techfore.2016.11.023" TargetMode="External"/><Relationship Id="rId5" Type="http://schemas.openxmlformats.org/officeDocument/2006/relationships/hyperlink" Target="https://www.tandfonline.com/doi/full/10.1080/01441647.2021.1879310" TargetMode="External"/><Relationship Id="rId4" Type="http://schemas.openxmlformats.org/officeDocument/2006/relationships/hyperlink" Target="https://doi.org/10.1080/01441647.2021.1879310" TargetMode="External"/><Relationship Id="rId9" Type="http://schemas.openxmlformats.org/officeDocument/2006/relationships/hyperlink" Target="https://arxiv.org/abs/2310.1318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3873" y="1068767"/>
            <a:ext cx="10804161" cy="4124194"/>
          </a:xfrm>
        </p:spPr>
        <p:txBody>
          <a:bodyPr>
            <a:normAutofit/>
          </a:bodyPr>
          <a:lstStyle/>
          <a:p>
            <a:r>
              <a:rPr lang="en-US" sz="4000" dirty="0">
                <a:latin typeface="Arial Narrow" panose="020B0606020202030204" pitchFamily="34" charset="0"/>
              </a:rPr>
              <a:t>Analyzing Technological Trends in Autonomous Vehicles through Patent Text Mining and Predictive Modeling</a:t>
            </a:r>
            <a:br>
              <a:rPr lang="en-US" sz="4000" dirty="0">
                <a:latin typeface="Arial Narrow" panose="020B0606020202030204" pitchFamily="34" charset="0"/>
              </a:rPr>
            </a:br>
            <a:br>
              <a:rPr lang="en-US" sz="5400" dirty="0">
                <a:latin typeface="Arial Narrow" panose="020B0606020202030204" pitchFamily="34" charset="0"/>
              </a:rPr>
            </a:br>
            <a:r>
              <a:rPr lang="en-US" sz="5400" dirty="0">
                <a:latin typeface="Arial Narrow" panose="020B0606020202030204" pitchFamily="34" charset="0"/>
              </a:rPr>
              <a:t> </a:t>
            </a:r>
            <a:endParaRPr lang="en-IN" sz="5400" dirty="0">
              <a:latin typeface="Arial Narrow" panose="020B0606020202030204" pitchFamily="34" charset="0"/>
            </a:endParaRPr>
          </a:p>
        </p:txBody>
      </p:sp>
      <p:sp>
        <p:nvSpPr>
          <p:cNvPr id="3" name="Subtitle 2"/>
          <p:cNvSpPr>
            <a:spLocks noGrp="1"/>
          </p:cNvSpPr>
          <p:nvPr>
            <p:ph type="subTitle" idx="1"/>
          </p:nvPr>
        </p:nvSpPr>
        <p:spPr>
          <a:xfrm>
            <a:off x="689548" y="4921173"/>
            <a:ext cx="10952813" cy="1655762"/>
          </a:xfrm>
        </p:spPr>
        <p:txBody>
          <a:bodyPr/>
          <a:lstStyle/>
          <a:p>
            <a:pPr algn="r"/>
            <a:r>
              <a:rPr lang="en-US" dirty="0">
                <a:latin typeface="Arial Narrow" panose="020B0606020202030204" pitchFamily="34" charset="0"/>
              </a:rPr>
              <a:t>24MSP3038</a:t>
            </a:r>
          </a:p>
          <a:p>
            <a:pPr algn="r"/>
            <a:r>
              <a:rPr lang="en-US" dirty="0">
                <a:latin typeface="Arial Narrow" panose="020B0606020202030204" pitchFamily="34" charset="0"/>
              </a:rPr>
              <a:t>Aniket Shinde</a:t>
            </a:r>
          </a:p>
          <a:p>
            <a:pPr algn="r"/>
            <a:r>
              <a:rPr lang="en-US" dirty="0">
                <a:latin typeface="Arial Narrow" panose="020B0606020202030204" pitchFamily="34" charset="0"/>
              </a:rPr>
              <a:t>13/06/2025</a:t>
            </a:r>
            <a:endParaRPr lang="en-IN" dirty="0">
              <a:latin typeface="Arial Narrow" panose="020B0606020202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468" y="0"/>
            <a:ext cx="7621064" cy="1695687"/>
          </a:xfrm>
          <a:prstGeom prst="rect">
            <a:avLst/>
          </a:prstGeom>
        </p:spPr>
      </p:pic>
      <p:sp>
        <p:nvSpPr>
          <p:cNvPr id="5" name="Rectangle 4"/>
          <p:cNvSpPr/>
          <p:nvPr/>
        </p:nvSpPr>
        <p:spPr>
          <a:xfrm>
            <a:off x="4227227" y="1816676"/>
            <a:ext cx="3507698" cy="58461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Arial Narrow" panose="020B0606020202030204" pitchFamily="34" charset="0"/>
              </a:rPr>
              <a:t>Second Review</a:t>
            </a:r>
            <a:endParaRPr lang="en-IN" sz="3200" b="1" dirty="0">
              <a:latin typeface="Arial Narrow" panose="020B0606020202030204" pitchFamily="34" charset="0"/>
            </a:endParaRPr>
          </a:p>
        </p:txBody>
      </p:sp>
      <p:sp>
        <p:nvSpPr>
          <p:cNvPr id="6" name="Rectangle 5"/>
          <p:cNvSpPr/>
          <p:nvPr/>
        </p:nvSpPr>
        <p:spPr>
          <a:xfrm>
            <a:off x="239843" y="4781862"/>
            <a:ext cx="4916773" cy="179507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Arial Narrow" panose="020B0606020202030204" pitchFamily="34" charset="0"/>
              </a:rPr>
              <a:t>Course Code: </a:t>
            </a:r>
            <a:r>
              <a:rPr lang="en-US" dirty="0"/>
              <a:t>CS7610</a:t>
            </a:r>
            <a:endParaRPr lang="en-US" dirty="0">
              <a:latin typeface="Arial Narrow" panose="020B0606020202030204" pitchFamily="34" charset="0"/>
            </a:endParaRPr>
          </a:p>
          <a:p>
            <a:r>
              <a:rPr lang="en-US" b="1" dirty="0">
                <a:latin typeface="Arial Narrow" panose="020B0606020202030204" pitchFamily="34" charset="0"/>
              </a:rPr>
              <a:t>Course Title: </a:t>
            </a:r>
            <a:r>
              <a:rPr lang="en-US" dirty="0"/>
              <a:t>Capstone Project</a:t>
            </a:r>
          </a:p>
          <a:p>
            <a:r>
              <a:rPr lang="en-US" b="1" dirty="0">
                <a:latin typeface="Arial Narrow" panose="020B0606020202030204" pitchFamily="34" charset="0"/>
              </a:rPr>
              <a:t>Guide Name: </a:t>
            </a:r>
            <a:r>
              <a:rPr lang="en-IN" dirty="0"/>
              <a:t>Prof. Ramya </a:t>
            </a:r>
            <a:r>
              <a:rPr lang="en-IN" dirty="0" err="1"/>
              <a:t>Mohanakrishnan</a:t>
            </a:r>
            <a:endParaRPr lang="en-IN" b="1" dirty="0">
              <a:latin typeface="Arial Narrow" panose="020B0606020202030204" pitchFamily="34" charset="0"/>
            </a:endParaRPr>
          </a:p>
        </p:txBody>
      </p:sp>
      <p:sp>
        <p:nvSpPr>
          <p:cNvPr id="7" name="Footer Placeholder 6"/>
          <p:cNvSpPr>
            <a:spLocks noGrp="1"/>
          </p:cNvSpPr>
          <p:nvPr>
            <p:ph type="ftr" sz="quarter" idx="11"/>
          </p:nvPr>
        </p:nvSpPr>
        <p:spPr>
          <a:xfrm>
            <a:off x="3277292" y="6356350"/>
            <a:ext cx="5637415" cy="325384"/>
          </a:xfrm>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8" name="Slide Number Placeholder 7"/>
          <p:cNvSpPr>
            <a:spLocks noGrp="1"/>
          </p:cNvSpPr>
          <p:nvPr>
            <p:ph type="sldNum" sz="quarter" idx="12"/>
          </p:nvPr>
        </p:nvSpPr>
        <p:spPr/>
        <p:txBody>
          <a:bodyPr/>
          <a:lstStyle/>
          <a:p>
            <a:fld id="{90EDC104-672A-4227-99C4-0E2CC007FDBA}" type="slidenum">
              <a:rPr lang="en-IN" smtClean="0"/>
              <a:t>1</a:t>
            </a:fld>
            <a:endParaRPr lang="en-IN" dirty="0"/>
          </a:p>
        </p:txBody>
      </p:sp>
      <p:sp>
        <p:nvSpPr>
          <p:cNvPr id="9" name="TextBox 8">
            <a:extLst>
              <a:ext uri="{FF2B5EF4-FFF2-40B4-BE49-F238E27FC236}">
                <a16:creationId xmlns:a16="http://schemas.microsoft.com/office/drawing/2014/main" id="{32251324-BBEA-0D84-CC7C-7BF1608186DF}"/>
              </a:ext>
            </a:extLst>
          </p:cNvPr>
          <p:cNvSpPr txBox="1"/>
          <p:nvPr/>
        </p:nvSpPr>
        <p:spPr>
          <a:xfrm>
            <a:off x="3579060" y="3742710"/>
            <a:ext cx="5173786" cy="646331"/>
          </a:xfrm>
          <a:prstGeom prst="rect">
            <a:avLst/>
          </a:prstGeom>
          <a:noFill/>
        </p:spPr>
        <p:txBody>
          <a:bodyPr wrap="square" rtlCol="0">
            <a:spAutoFit/>
          </a:bodyPr>
          <a:lstStyle/>
          <a:p>
            <a:r>
              <a:rPr lang="en-US" sz="3600" dirty="0">
                <a:solidFill>
                  <a:schemeClr val="tx1">
                    <a:lumMod val="65000"/>
                    <a:lumOff val="35000"/>
                  </a:schemeClr>
                </a:solidFill>
                <a:latin typeface="Arial Narrow" panose="020B0606020202030204" pitchFamily="34" charset="0"/>
              </a:rPr>
              <a:t>Natural Language Processing</a:t>
            </a:r>
            <a:endParaRPr lang="en-IN" sz="3600" dirty="0"/>
          </a:p>
        </p:txBody>
      </p:sp>
    </p:spTree>
    <p:extLst>
      <p:ext uri="{BB962C8B-B14F-4D97-AF65-F5344CB8AC3E}">
        <p14:creationId xmlns:p14="http://schemas.microsoft.com/office/powerpoint/2010/main" val="1757314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Abstract</a:t>
            </a:r>
            <a:endParaRPr lang="en-IN" b="1" dirty="0">
              <a:latin typeface="Arial Narrow" panose="020B0606020202030204" pitchFamily="34" charset="0"/>
            </a:endParaRPr>
          </a:p>
        </p:txBody>
      </p:sp>
      <p:sp>
        <p:nvSpPr>
          <p:cNvPr id="3" name="Content Placeholder 2"/>
          <p:cNvSpPr>
            <a:spLocks noGrp="1"/>
          </p:cNvSpPr>
          <p:nvPr>
            <p:ph idx="1"/>
          </p:nvPr>
        </p:nvSpPr>
        <p:spPr/>
        <p:txBody>
          <a:bodyPr>
            <a:normAutofit fontScale="92500" lnSpcReduction="20000"/>
          </a:bodyPr>
          <a:lstStyle/>
          <a:p>
            <a:pPr marL="0" indent="0">
              <a:buNone/>
            </a:pPr>
            <a:r>
              <a:rPr lang="en-US" dirty="0"/>
              <a:t>This project presents a comprehensive analysis of the autonomous vehicle (AV) industry through patent intelligence, leveraging a novel unstructured-to-structured data pipeline that transforms raw patent text into actionable insights. Using 667 carefully filtered US AV patents from leading companies, I constructed an end-to-end NLP-to-ML framework encompassing semantic clustering, innovation trend analysis, technology emergence detection, and innovation outlier identification. The pipeline integrates advanced natural language processing techniques with machine learning models to reveal critical industry patterns including emerging technologies, declining innovations, company positioning, and strategic pivots. Through semantic clustering and temporal analysis, combined with LLM-enhanced data structuring, this work demonstrates how patent data can be systematically transformed to provide strategic intelligence for understanding technological evolution and competitive dynamics in the rapidly advancing autonomous vehicle sector.</a:t>
            </a:r>
            <a:endParaRPr lang="en-IN" dirty="0"/>
          </a:p>
        </p:txBody>
      </p:sp>
      <p:sp>
        <p:nvSpPr>
          <p:cNvPr id="4" name="Footer Placeholder 3"/>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a:t>
            </a:fld>
            <a:endParaRPr lang="en-IN"/>
          </a:p>
        </p:txBody>
      </p:sp>
    </p:spTree>
    <p:extLst>
      <p:ext uri="{BB962C8B-B14F-4D97-AF65-F5344CB8AC3E}">
        <p14:creationId xmlns:p14="http://schemas.microsoft.com/office/powerpoint/2010/main" val="930009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Introduction</a:t>
            </a:r>
            <a:endParaRPr lang="en-IN" dirty="0">
              <a:latin typeface="Arial Narrow" panose="020B0606020202030204" pitchFamily="34" charset="0"/>
            </a:endParaRPr>
          </a:p>
        </p:txBody>
      </p:sp>
      <p:sp>
        <p:nvSpPr>
          <p:cNvPr id="3" name="Content Placeholder 2"/>
          <p:cNvSpPr>
            <a:spLocks noGrp="1"/>
          </p:cNvSpPr>
          <p:nvPr>
            <p:ph idx="1"/>
          </p:nvPr>
        </p:nvSpPr>
        <p:spPr/>
        <p:txBody>
          <a:bodyPr>
            <a:normAutofit fontScale="77500" lnSpcReduction="20000"/>
          </a:bodyPr>
          <a:lstStyle/>
          <a:p>
            <a:pPr marL="0" indent="0" algn="just">
              <a:buNone/>
            </a:pPr>
            <a:r>
              <a:rPr lang="en-US" dirty="0"/>
              <a:t>The autonomous vehicle industry represents a rapidly evolving technological landscape with billions in investments and thousands of patents annually. However, extracting meaningful insights from vast patent repositories remains challenging due to unstructured data formats and complex technical language. Existing patent analysis tools focus on bibliometric statistics but fail to capture semantic relationships and emerging innovation patterns critical for strategic decision-making.</a:t>
            </a:r>
          </a:p>
          <a:p>
            <a:pPr marL="0" indent="0" algn="just">
              <a:buNone/>
            </a:pPr>
            <a:endParaRPr lang="en-US" dirty="0"/>
          </a:p>
          <a:p>
            <a:pPr marL="0" indent="0" algn="just">
              <a:buNone/>
            </a:pPr>
            <a:r>
              <a:rPr lang="en-US" dirty="0"/>
              <a:t>My approach develops an integrated NLP-to-ML pipeline transforming raw patent text into structured intelligence. Through semantic clustering, temporal trend analysis, and LLM-enhanced processing, I create a comprehensive framework for understanding AV technological evolution. This work contributes a novel methodology revealing company positioning, emerging technologies, and innovation outliers. In an industry where technological leadership determines market success, this system provides unprecedented visibility into competitive dynamics, enabling data-driven decisions about R&amp;D investments and strategic positioning.</a:t>
            </a:r>
            <a:endParaRPr lang="en-IN" dirty="0"/>
          </a:p>
        </p:txBody>
      </p:sp>
      <p:sp>
        <p:nvSpPr>
          <p:cNvPr id="4" name="Footer Placeholder 3"/>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a:t>
            </a:fld>
            <a:endParaRPr lang="en-IN"/>
          </a:p>
        </p:txBody>
      </p:sp>
    </p:spTree>
    <p:extLst>
      <p:ext uri="{BB962C8B-B14F-4D97-AF65-F5344CB8AC3E}">
        <p14:creationId xmlns:p14="http://schemas.microsoft.com/office/powerpoint/2010/main" val="2565340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328" y="320675"/>
            <a:ext cx="10515600" cy="1325563"/>
          </a:xfrm>
        </p:spPr>
        <p:txBody>
          <a:bodyPr/>
          <a:lstStyle/>
          <a:p>
            <a:r>
              <a:rPr lang="en-US" b="1" dirty="0">
                <a:latin typeface="Arial Narrow" panose="020B0606020202030204" pitchFamily="34" charset="0"/>
              </a:rPr>
              <a:t>Need of study</a:t>
            </a:r>
            <a:endParaRPr lang="en-IN" b="1" dirty="0">
              <a:latin typeface="Arial Narrow" panose="020B0606020202030204" pitchFamily="34" charset="0"/>
            </a:endParaRPr>
          </a:p>
        </p:txBody>
      </p:sp>
      <p:sp>
        <p:nvSpPr>
          <p:cNvPr id="3" name="Content Placeholder 2"/>
          <p:cNvSpPr>
            <a:spLocks noGrp="1"/>
          </p:cNvSpPr>
          <p:nvPr>
            <p:ph idx="1"/>
          </p:nvPr>
        </p:nvSpPr>
        <p:spPr/>
        <p:txBody>
          <a:bodyPr>
            <a:normAutofit fontScale="92500"/>
          </a:bodyPr>
          <a:lstStyle/>
          <a:p>
            <a:r>
              <a:rPr lang="en-US" dirty="0"/>
              <a:t>Strategic Investment Decisions: Companies need to identify white spaces and avoid patent thickets when allocating R&amp;D budgets, requiring deep understanding of technological trajectories and competitive positioning in the AV landscape.</a:t>
            </a:r>
          </a:p>
          <a:p>
            <a:r>
              <a:rPr lang="en-US" dirty="0"/>
              <a:t>Real-time Competitive Intelligence: Traditional patent analysis methods are too slow for the fast-paced AV industry, where technological breakthroughs can shift market dynamics within months rather than years. </a:t>
            </a:r>
          </a:p>
          <a:p>
            <a:r>
              <a:rPr lang="en-US" dirty="0"/>
              <a:t>Cross-domain Technology Transfer: AV patents span multiple disciplines (AI, sensors, mechanical systems), necessitating semantic analysis to identify unexpected innovation patterns and cross-pollination opportunities between different technical domains.</a:t>
            </a:r>
            <a:endParaRPr lang="en-IN" dirty="0"/>
          </a:p>
        </p:txBody>
      </p:sp>
      <p:sp>
        <p:nvSpPr>
          <p:cNvPr id="4" name="Footer Placeholder 3"/>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4</a:t>
            </a:fld>
            <a:endParaRPr lang="en-IN"/>
          </a:p>
        </p:txBody>
      </p:sp>
    </p:spTree>
    <p:extLst>
      <p:ext uri="{BB962C8B-B14F-4D97-AF65-F5344CB8AC3E}">
        <p14:creationId xmlns:p14="http://schemas.microsoft.com/office/powerpoint/2010/main" val="2884258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1528763" algn="l"/>
              </a:tabLst>
            </a:pPr>
            <a:r>
              <a:rPr lang="en-US" b="1" dirty="0">
                <a:latin typeface="Arial Narrow" panose="020B0606020202030204" pitchFamily="34" charset="0"/>
              </a:rPr>
              <a:t>Problem Statement</a:t>
            </a:r>
            <a:endParaRPr lang="en-IN" b="1" dirty="0">
              <a:latin typeface="Arial Narrow" panose="020B0606020202030204" pitchFamily="34" charset="0"/>
            </a:endParaRPr>
          </a:p>
        </p:txBody>
      </p:sp>
      <p:sp>
        <p:nvSpPr>
          <p:cNvPr id="3" name="Content Placeholder 2"/>
          <p:cNvSpPr>
            <a:spLocks noGrp="1"/>
          </p:cNvSpPr>
          <p:nvPr>
            <p:ph idx="1"/>
          </p:nvPr>
        </p:nvSpPr>
        <p:spPr/>
        <p:txBody>
          <a:bodyPr>
            <a:normAutofit fontScale="92500" lnSpcReduction="20000"/>
          </a:bodyPr>
          <a:lstStyle/>
          <a:p>
            <a:pPr marL="0" indent="0">
              <a:buNone/>
            </a:pPr>
            <a:r>
              <a:rPr lang="en-US" dirty="0"/>
              <a:t>Patents represent critical early indicators of technological innovation, yet their unstructured format limits strategic intelligence extraction in fast-moving industries like autonomous vehicles. Traditional patent analysis relies on manual review or simple keyword searches, failing to capture semantic relationships and temporal dynamics essential for understanding technology evolution. This project addresses the challenge of transforming unstructured patent text into actionable intelligence through an integrated NLP-to-ML pipeline. By combining semantic clustering, trend analysis, and LLM-enhanced structuring, we systematically extract innovation patterns, identify emerging technologies, and detect strategic pivots across 667 AV patents from leading companies. The objective is to demonstrate how advanced text analytics can enable real-time competitive intelligence, support innovation outlier detection, and inform strategic R&amp;D decisions in the rapidly evolving autonomous vehicle ecosystem.</a:t>
            </a:r>
            <a:endParaRPr lang="en-IN" dirty="0"/>
          </a:p>
        </p:txBody>
      </p:sp>
      <p:sp>
        <p:nvSpPr>
          <p:cNvPr id="4" name="Footer Placeholder 3"/>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5</a:t>
            </a:fld>
            <a:endParaRPr lang="en-IN"/>
          </a:p>
        </p:txBody>
      </p:sp>
    </p:spTree>
    <p:extLst>
      <p:ext uri="{BB962C8B-B14F-4D97-AF65-F5344CB8AC3E}">
        <p14:creationId xmlns:p14="http://schemas.microsoft.com/office/powerpoint/2010/main" val="2898404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Objectives</a:t>
            </a:r>
            <a:endParaRPr lang="en-IN" dirty="0">
              <a:latin typeface="Arial Narrow" panose="020B0606020202030204" pitchFamily="34" charset="0"/>
            </a:endParaRPr>
          </a:p>
        </p:txBody>
      </p:sp>
      <p:sp>
        <p:nvSpPr>
          <p:cNvPr id="3" name="Content Placeholder 2"/>
          <p:cNvSpPr>
            <a:spLocks noGrp="1"/>
          </p:cNvSpPr>
          <p:nvPr>
            <p:ph idx="1"/>
          </p:nvPr>
        </p:nvSpPr>
        <p:spPr/>
        <p:txBody>
          <a:bodyPr>
            <a:normAutofit fontScale="62500" lnSpcReduction="20000"/>
          </a:bodyPr>
          <a:lstStyle/>
          <a:p>
            <a:pPr marL="0" indent="0">
              <a:buNone/>
            </a:pPr>
            <a:r>
              <a:rPr lang="en-US" dirty="0"/>
              <a:t>General Objective</a:t>
            </a:r>
          </a:p>
          <a:p>
            <a:r>
              <a:rPr lang="en-US" dirty="0"/>
              <a:t>To develop an integrated NLP-to-ML pipeline for transforming unstructured AV patent data into structured intelligence that enables strategic decision-making and competitive analysis in the autonomous vehicle industry.</a:t>
            </a:r>
          </a:p>
          <a:p>
            <a:pPr marL="0" indent="0">
              <a:buNone/>
            </a:pPr>
            <a:r>
              <a:rPr lang="en-US" dirty="0"/>
              <a:t>Specific Objectives</a:t>
            </a:r>
          </a:p>
          <a:p>
            <a:r>
              <a:rPr lang="en-US" dirty="0"/>
              <a:t>Data Infrastructure Development: Construct a comprehensive dataset of 667 US AV patents with full-text extraction, metadata preprocessing, and structured storage in JSONL format for downstream analysis.</a:t>
            </a:r>
          </a:p>
          <a:p>
            <a:r>
              <a:rPr lang="en-US" dirty="0"/>
              <a:t>Semantic Pattern Discovery: Apply advanced NLP techniques including SBERT embeddings, UMAP dimensionality reduction, and clustering algorithms to uncover hidden technological relationships and patent groupings.</a:t>
            </a:r>
          </a:p>
          <a:p>
            <a:r>
              <a:rPr lang="en-US" dirty="0"/>
              <a:t>Temporal Innovation Analysis: Implement trend analysis methodologies to identify emerging and declining technologies, measuring innovation trajectories across time periods using curated AV-specific terminology.</a:t>
            </a:r>
          </a:p>
          <a:p>
            <a:r>
              <a:rPr lang="en-US" dirty="0"/>
              <a:t>LLM-Enhanced Structuring: Leverage Gemini API to transform unstructured patent text into machine-interpretable features including novelty aspects, problem-solution mappings, and categorical classifications.</a:t>
            </a:r>
          </a:p>
          <a:p>
            <a:r>
              <a:rPr lang="en-US" dirty="0"/>
              <a:t>Strategic Intelligence Extraction: Deploy Prophet-based emergence analysis, anomaly detection algorithms, and similarity matching to identify innovation outliers, strategic pivots, and competitive positioning insights.</a:t>
            </a:r>
            <a:endParaRPr lang="en-IN" dirty="0"/>
          </a:p>
        </p:txBody>
      </p:sp>
      <p:sp>
        <p:nvSpPr>
          <p:cNvPr id="4" name="Footer Placeholder 3"/>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6</a:t>
            </a:fld>
            <a:endParaRPr lang="en-IN"/>
          </a:p>
        </p:txBody>
      </p:sp>
    </p:spTree>
    <p:extLst>
      <p:ext uri="{BB962C8B-B14F-4D97-AF65-F5344CB8AC3E}">
        <p14:creationId xmlns:p14="http://schemas.microsoft.com/office/powerpoint/2010/main" val="935722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Arial Narrow" panose="020B0606020202030204" pitchFamily="34" charset="0"/>
              </a:rPr>
              <a:t>Related Work</a:t>
            </a:r>
            <a:endParaRPr lang="en-IN" dirty="0">
              <a:latin typeface="Arial Narrow" panose="020B0606020202030204" pitchFamily="34" charset="0"/>
            </a:endParaRPr>
          </a:p>
        </p:txBody>
      </p:sp>
      <p:sp>
        <p:nvSpPr>
          <p:cNvPr id="3" name="Content Placeholder 2"/>
          <p:cNvSpPr>
            <a:spLocks noGrp="1"/>
          </p:cNvSpPr>
          <p:nvPr>
            <p:ph idx="1"/>
          </p:nvPr>
        </p:nvSpPr>
        <p:spPr/>
        <p:txBody>
          <a:bodyPr>
            <a:normAutofit fontScale="92500" lnSpcReduction="20000"/>
          </a:bodyPr>
          <a:lstStyle/>
          <a:p>
            <a:pPr marL="0" indent="0" algn="just">
              <a:buNone/>
            </a:pPr>
            <a:endParaRPr lang="en-US" dirty="0"/>
          </a:p>
          <a:p>
            <a:pPr marL="0" indent="0" algn="just">
              <a:buNone/>
            </a:pPr>
            <a:r>
              <a:rPr lang="en-US" b="1" i="1" dirty="0"/>
              <a:t>Trappey et al. (2020) </a:t>
            </a:r>
            <a:r>
              <a:rPr lang="en-US" dirty="0"/>
              <a:t>established foundational work in intelligent patent summarization using ML and NLP techniques, demonstrating automated transformation of unstructured patent text into structured insights. </a:t>
            </a:r>
            <a:r>
              <a:rPr lang="en-US" b="1" i="1" dirty="0"/>
              <a:t>Cho et al. (2021)</a:t>
            </a:r>
            <a:r>
              <a:rPr lang="en-US" dirty="0"/>
              <a:t> specifically examined autonomous driving patents through citation analysis, validating strategic importance of AV patent intelligence. </a:t>
            </a:r>
            <a:r>
              <a:rPr lang="en-US" b="1" i="1" dirty="0"/>
              <a:t>Kim &amp; Bae (2017)</a:t>
            </a:r>
            <a:r>
              <a:rPr lang="en-US" dirty="0"/>
              <a:t> introduced forecasting methodologies for identifying promising technologies through patent analysis, aligning with my trend analysis components. </a:t>
            </a:r>
            <a:r>
              <a:rPr lang="en-US" b="1" i="1" dirty="0"/>
              <a:t>Lattimer et al. (2023) </a:t>
            </a:r>
            <a:r>
              <a:rPr lang="en-US" dirty="0"/>
              <a:t>contributed advanced NLP techniques for processing long documents, relevant to my full-text patent analysis pipeline. My work extends these foundations by integrating semantic clustering, LLM-enhanced structuring, and emergence detection into a comprehensive NLP-to-ML framework, moving beyond citation-based analysis to capture deeper technological relationships and innovation patterns in the AV domain.</a:t>
            </a:r>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7</a:t>
            </a:fld>
            <a:endParaRPr lang="en-IN"/>
          </a:p>
        </p:txBody>
      </p:sp>
    </p:spTree>
    <p:extLst>
      <p:ext uri="{BB962C8B-B14F-4D97-AF65-F5344CB8AC3E}">
        <p14:creationId xmlns:p14="http://schemas.microsoft.com/office/powerpoint/2010/main" val="1306408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a:latin typeface="Arial Narrow"/>
                <a:ea typeface="Arial Narrow"/>
                <a:cs typeface="Arial Narrow"/>
                <a:sym typeface="Arial Narrow"/>
              </a:rPr>
              <a:t>Proposed Methodology</a:t>
            </a:r>
            <a:endParaRPr b="1">
              <a:latin typeface="Arial Narrow"/>
              <a:ea typeface="Arial Narrow"/>
              <a:cs typeface="Arial Narrow"/>
              <a:sym typeface="Arial Narrow"/>
            </a:endParaRPr>
          </a:p>
        </p:txBody>
      </p:sp>
      <p:sp>
        <p:nvSpPr>
          <p:cNvPr id="133" name="Google Shape;13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34" name="Google Shape;13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1026" name="Picture 2">
            <a:extLst>
              <a:ext uri="{FF2B5EF4-FFF2-40B4-BE49-F238E27FC236}">
                <a16:creationId xmlns:a16="http://schemas.microsoft.com/office/drawing/2014/main" id="{CDCD2D8B-D042-C98F-4BBA-5E1E733657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1839" y="1690688"/>
            <a:ext cx="5802284" cy="43990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Proposed Methodology [ Max. 3 Slides ]</a:t>
            </a:r>
            <a:endParaRPr lang="en-IN" b="1" dirty="0">
              <a:latin typeface="Arial Narrow" panose="020B0606020202030204" pitchFamily="34" charset="0"/>
            </a:endParaRPr>
          </a:p>
        </p:txBody>
      </p:sp>
      <p:sp>
        <p:nvSpPr>
          <p:cNvPr id="3" name="Content Placeholder 2"/>
          <p:cNvSpPr>
            <a:spLocks noGrp="1"/>
          </p:cNvSpPr>
          <p:nvPr>
            <p:ph idx="1"/>
          </p:nvPr>
        </p:nvSpPr>
        <p:spPr/>
        <p:txBody>
          <a:bodyPr>
            <a:normAutofit fontScale="85000" lnSpcReduction="20000"/>
          </a:bodyPr>
          <a:lstStyle/>
          <a:p>
            <a:pPr marL="0" indent="0">
              <a:buNone/>
            </a:pPr>
            <a:r>
              <a:rPr lang="en-IN" dirty="0"/>
              <a:t>Data Pipeline &amp; Semantic Analysis</a:t>
            </a:r>
          </a:p>
          <a:p>
            <a:endParaRPr lang="en-IN" dirty="0"/>
          </a:p>
          <a:p>
            <a:r>
              <a:rPr lang="en-IN" dirty="0"/>
              <a:t>Data Acquisition &amp; Preprocessing: Filter 667 US AV patents from Lens.org using CPC codes and company criteria, acquire full-text via Lens API, structure in JSONL format with metadata normalization and attribute optimization.</a:t>
            </a:r>
          </a:p>
          <a:p>
            <a:r>
              <a:rPr lang="en-IN" dirty="0"/>
              <a:t>Semantic Corpus Construction: Load </a:t>
            </a:r>
            <a:r>
              <a:rPr lang="en-IN" dirty="0" err="1"/>
              <a:t>preprocessed</a:t>
            </a:r>
            <a:r>
              <a:rPr lang="en-IN" dirty="0"/>
              <a:t> patents, create semantic representations using SBERT embeddings, apply UMAP dimensionality reduction for optimal clustering preparation.</a:t>
            </a:r>
          </a:p>
          <a:p>
            <a:r>
              <a:rPr lang="en-IN" dirty="0"/>
              <a:t>Patent Clustering &amp; Visualization: Perform semantic clustering to identify technology groups, extract cluster keywords, generate visualizations showing patent distributions by company and technology domains.</a:t>
            </a:r>
          </a:p>
          <a:p>
            <a:r>
              <a:rPr lang="en-IN" dirty="0"/>
              <a:t>Similarity Analysis: Implement patent-to-patent similarity matching and cluster relationship analysis to reveal technological connections and competitive positioning.</a:t>
            </a: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9</a:t>
            </a:fld>
            <a:endParaRPr lang="en-IN"/>
          </a:p>
        </p:txBody>
      </p:sp>
    </p:spTree>
    <p:extLst>
      <p:ext uri="{BB962C8B-B14F-4D97-AF65-F5344CB8AC3E}">
        <p14:creationId xmlns:p14="http://schemas.microsoft.com/office/powerpoint/2010/main" val="1125428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29078-5344-EF05-D467-56A8977B33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1249C8-52C8-AB25-574D-222CE531BEEF}"/>
              </a:ext>
            </a:extLst>
          </p:cNvPr>
          <p:cNvSpPr>
            <a:spLocks noGrp="1"/>
          </p:cNvSpPr>
          <p:nvPr>
            <p:ph type="title"/>
          </p:nvPr>
        </p:nvSpPr>
        <p:spPr/>
        <p:txBody>
          <a:bodyPr/>
          <a:lstStyle/>
          <a:p>
            <a:r>
              <a:rPr lang="en-US" b="1" dirty="0">
                <a:latin typeface="Arial Narrow" panose="020B0606020202030204" pitchFamily="34" charset="0"/>
              </a:rPr>
              <a:t>Proposed Methodology [ Max. 3 Slides ]</a:t>
            </a:r>
            <a:endParaRPr lang="en-IN" b="1"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FBF788F2-7E3F-E5F2-9CF5-066F17C8F79E}"/>
              </a:ext>
            </a:extLst>
          </p:cNvPr>
          <p:cNvSpPr>
            <a:spLocks noGrp="1"/>
          </p:cNvSpPr>
          <p:nvPr>
            <p:ph idx="1"/>
          </p:nvPr>
        </p:nvSpPr>
        <p:spPr/>
        <p:txBody>
          <a:bodyPr>
            <a:normAutofit fontScale="85000" lnSpcReduction="20000"/>
          </a:bodyPr>
          <a:lstStyle/>
          <a:p>
            <a:pPr marL="0" indent="0">
              <a:buNone/>
            </a:pPr>
            <a:r>
              <a:rPr lang="en-IN" dirty="0"/>
              <a:t>Temporal Analysis &amp; Intelligence Extraction</a:t>
            </a:r>
          </a:p>
          <a:p>
            <a:endParaRPr lang="en-IN" dirty="0"/>
          </a:p>
          <a:p>
            <a:r>
              <a:rPr lang="en-IN" dirty="0"/>
              <a:t>Innovation Trend Analysis: Create temporal corpus with curated AV-specific terminology, extract meaningful n-grams, perform trend analysis to identify emerging and declining technologies.</a:t>
            </a:r>
          </a:p>
          <a:p>
            <a:r>
              <a:rPr lang="en-IN" dirty="0"/>
              <a:t>LLM-Enhanced Structuring: Deploy Gemini API with structured prompts to transform unstructured patent text into machine-readable features including novelty aspects, problem-solution mappings, and categorical classifications.</a:t>
            </a:r>
          </a:p>
          <a:p>
            <a:r>
              <a:rPr lang="en-IN" dirty="0"/>
              <a:t>Technology Emergence Detection: Apply Prophet forecasting model with custom emergence scoring methodology to identify breakthrough technologies and calculate growth rates.</a:t>
            </a:r>
          </a:p>
          <a:p>
            <a:r>
              <a:rPr lang="en-IN" dirty="0"/>
              <a:t>Innovation Outlier Analysis: Combine NLP vectorization, DBSCAN clustering, and isolation forest algorithms to detect radically innovative patents, strategic pivots, and innovation leadership patterns.</a:t>
            </a:r>
          </a:p>
        </p:txBody>
      </p:sp>
      <p:sp>
        <p:nvSpPr>
          <p:cNvPr id="4" name="Footer Placeholder 3">
            <a:extLst>
              <a:ext uri="{FF2B5EF4-FFF2-40B4-BE49-F238E27FC236}">
                <a16:creationId xmlns:a16="http://schemas.microsoft.com/office/drawing/2014/main" id="{B0644653-7F1E-F982-A7E4-50C4C1729A28}"/>
              </a:ext>
            </a:extLst>
          </p:cNvPr>
          <p:cNvSpPr>
            <a:spLocks noGrp="1"/>
          </p:cNvSpPr>
          <p:nvPr>
            <p:ph type="ftr" sz="quarter" idx="11"/>
          </p:nvPr>
        </p:nvSpPr>
        <p:spPr/>
        <p:txBody>
          <a:bodyPr/>
          <a:lstStyle/>
          <a:p>
            <a:r>
              <a:rPr lang="en-IN"/>
              <a:t>CS6501 Project I PGP, ICER, VIT Bangalore</a:t>
            </a:r>
          </a:p>
        </p:txBody>
      </p:sp>
      <p:sp>
        <p:nvSpPr>
          <p:cNvPr id="5" name="Slide Number Placeholder 4">
            <a:extLst>
              <a:ext uri="{FF2B5EF4-FFF2-40B4-BE49-F238E27FC236}">
                <a16:creationId xmlns:a16="http://schemas.microsoft.com/office/drawing/2014/main" id="{CA4A4629-0945-EF53-953C-C86F24FA257F}"/>
              </a:ext>
            </a:extLst>
          </p:cNvPr>
          <p:cNvSpPr>
            <a:spLocks noGrp="1"/>
          </p:cNvSpPr>
          <p:nvPr>
            <p:ph type="sldNum" sz="quarter" idx="12"/>
          </p:nvPr>
        </p:nvSpPr>
        <p:spPr/>
        <p:txBody>
          <a:bodyPr/>
          <a:lstStyle/>
          <a:p>
            <a:fld id="{90EDC104-672A-4227-99C4-0E2CC007FDBA}" type="slidenum">
              <a:rPr lang="en-IN" smtClean="0"/>
              <a:t>10</a:t>
            </a:fld>
            <a:endParaRPr lang="en-IN"/>
          </a:p>
        </p:txBody>
      </p:sp>
    </p:spTree>
    <p:extLst>
      <p:ext uri="{BB962C8B-B14F-4D97-AF65-F5344CB8AC3E}">
        <p14:creationId xmlns:p14="http://schemas.microsoft.com/office/powerpoint/2010/main" val="154085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Dataset</a:t>
            </a:r>
            <a:endParaRPr lang="en-IN" b="1" dirty="0">
              <a:latin typeface="Arial Narrow" panose="020B0606020202030204" pitchFamily="34" charset="0"/>
            </a:endParaRPr>
          </a:p>
        </p:txBody>
      </p:sp>
      <p:sp>
        <p:nvSpPr>
          <p:cNvPr id="3" name="Content Placeholder 2"/>
          <p:cNvSpPr>
            <a:spLocks noGrp="1"/>
          </p:cNvSpPr>
          <p:nvPr>
            <p:ph idx="1"/>
          </p:nvPr>
        </p:nvSpPr>
        <p:spPr>
          <a:xfrm>
            <a:off x="631466" y="1360091"/>
            <a:ext cx="10515600" cy="4351338"/>
          </a:xfrm>
        </p:spPr>
        <p:txBody>
          <a:bodyPr/>
          <a:lstStyle/>
          <a:p>
            <a:r>
              <a:rPr lang="en-US" dirty="0">
                <a:latin typeface="Arial Narrow" panose="020B0606020202030204" pitchFamily="34" charset="0"/>
              </a:rPr>
              <a:t>Source of the Dataset: </a:t>
            </a:r>
            <a:r>
              <a:rPr lang="en-US" dirty="0">
                <a:latin typeface="Arial Narrow" panose="020B0606020202030204" pitchFamily="34" charset="0"/>
                <a:hlinkClick r:id="rId2"/>
              </a:rPr>
              <a:t>lens.org</a:t>
            </a:r>
            <a:endParaRPr lang="en-US" dirty="0">
              <a:latin typeface="Arial Narrow" panose="020B0606020202030204" pitchFamily="34" charset="0"/>
            </a:endParaRPr>
          </a:p>
          <a:p>
            <a:r>
              <a:rPr lang="en-US" dirty="0">
                <a:latin typeface="Arial Narrow" panose="020B0606020202030204" pitchFamily="34" charset="0"/>
              </a:rPr>
              <a:t>No. of Observations: 667 patent full-text files</a:t>
            </a:r>
          </a:p>
          <a:p>
            <a:r>
              <a:rPr lang="en-US" dirty="0">
                <a:latin typeface="Arial Narrow" panose="020B0606020202030204" pitchFamily="34" charset="0"/>
              </a:rPr>
              <a:t>Column/Feature Details: Title, Abstract, Claims, Application Date, Publication Date, Applicants, CPC Codes</a:t>
            </a:r>
          </a:p>
          <a:p>
            <a:r>
              <a:rPr lang="en-US" dirty="0">
                <a:latin typeface="Arial Narrow"/>
                <a:ea typeface="Arial Narrow"/>
                <a:cs typeface="Arial Narrow"/>
                <a:sym typeface="Arial Narrow"/>
              </a:rPr>
              <a:t>Details about the columns – Text data</a:t>
            </a:r>
            <a:endParaRPr lang="en-US" dirty="0">
              <a:latin typeface="Arial Narrow" panose="020B0606020202030204" pitchFamily="34" charset="0"/>
            </a:endParaRPr>
          </a:p>
          <a:p>
            <a:r>
              <a:rPr lang="en-US" dirty="0">
                <a:latin typeface="Arial Narrow" panose="020B0606020202030204" pitchFamily="34" charset="0"/>
              </a:rPr>
              <a:t>Screenshot of the dataset: </a:t>
            </a:r>
            <a:endParaRPr lang="en-IN"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11</a:t>
            </a:fld>
            <a:endParaRPr lang="en-IN"/>
          </a:p>
        </p:txBody>
      </p:sp>
      <p:pic>
        <p:nvPicPr>
          <p:cNvPr id="9" name="Picture 8">
            <a:extLst>
              <a:ext uri="{FF2B5EF4-FFF2-40B4-BE49-F238E27FC236}">
                <a16:creationId xmlns:a16="http://schemas.microsoft.com/office/drawing/2014/main" id="{C95B32C6-B2D0-2F8E-1753-54F48E5C9EE4}"/>
              </a:ext>
            </a:extLst>
          </p:cNvPr>
          <p:cNvPicPr>
            <a:picLocks noChangeAspect="1"/>
          </p:cNvPicPr>
          <p:nvPr/>
        </p:nvPicPr>
        <p:blipFill>
          <a:blip r:embed="rId3"/>
          <a:stretch>
            <a:fillRect/>
          </a:stretch>
        </p:blipFill>
        <p:spPr>
          <a:xfrm>
            <a:off x="4942721" y="3834016"/>
            <a:ext cx="7110125" cy="2589203"/>
          </a:xfrm>
          <a:prstGeom prst="rect">
            <a:avLst/>
          </a:prstGeom>
        </p:spPr>
      </p:pic>
    </p:spTree>
    <p:extLst>
      <p:ext uri="{BB962C8B-B14F-4D97-AF65-F5344CB8AC3E}">
        <p14:creationId xmlns:p14="http://schemas.microsoft.com/office/powerpoint/2010/main" val="515282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12</a:t>
            </a:fld>
            <a:endParaRPr lang="en-IN"/>
          </a:p>
        </p:txBody>
      </p:sp>
      <p:sp>
        <p:nvSpPr>
          <p:cNvPr id="10" name="TextBox 9">
            <a:extLst>
              <a:ext uri="{FF2B5EF4-FFF2-40B4-BE49-F238E27FC236}">
                <a16:creationId xmlns:a16="http://schemas.microsoft.com/office/drawing/2014/main" id="{1091715B-9D58-F97C-B105-08987CF5E161}"/>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Technology Clustering</a:t>
            </a:r>
          </a:p>
        </p:txBody>
      </p:sp>
      <p:pic>
        <p:nvPicPr>
          <p:cNvPr id="12" name="Picture 11">
            <a:extLst>
              <a:ext uri="{FF2B5EF4-FFF2-40B4-BE49-F238E27FC236}">
                <a16:creationId xmlns:a16="http://schemas.microsoft.com/office/drawing/2014/main" id="{02C802A9-6148-D74C-2ABC-7669B6AE39A9}"/>
              </a:ext>
            </a:extLst>
          </p:cNvPr>
          <p:cNvPicPr>
            <a:picLocks noChangeAspect="1"/>
          </p:cNvPicPr>
          <p:nvPr/>
        </p:nvPicPr>
        <p:blipFill>
          <a:blip r:embed="rId2" cstate="print">
            <a:extLst>
              <a:ext uri="{28A0092B-C50C-407E-A947-70E740481C1C}">
                <a14:useLocalDpi xmlns:a14="http://schemas.microsoft.com/office/drawing/2010/main" val="0"/>
              </a:ext>
            </a:extLst>
          </a:blip>
          <a:srcRect t="11549" b="5853"/>
          <a:stretch>
            <a:fillRect/>
          </a:stretch>
        </p:blipFill>
        <p:spPr>
          <a:xfrm>
            <a:off x="627185" y="1798688"/>
            <a:ext cx="11205308" cy="4557662"/>
          </a:xfrm>
          <a:prstGeom prst="rect">
            <a:avLst/>
          </a:prstGeom>
        </p:spPr>
      </p:pic>
    </p:spTree>
    <p:extLst>
      <p:ext uri="{BB962C8B-B14F-4D97-AF65-F5344CB8AC3E}">
        <p14:creationId xmlns:p14="http://schemas.microsoft.com/office/powerpoint/2010/main" val="883834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4BC74-000F-4A00-A56E-B2573A6541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A068F0-34F0-6B98-8E78-3DBCF11B8C2A}"/>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9BF7FB90-FD98-98D0-BDBA-12FDB34881C4}"/>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A0C4132C-820C-4F19-7B26-0771B683A3B4}"/>
              </a:ext>
            </a:extLst>
          </p:cNvPr>
          <p:cNvSpPr>
            <a:spLocks noGrp="1"/>
          </p:cNvSpPr>
          <p:nvPr>
            <p:ph type="sldNum" sz="quarter" idx="12"/>
          </p:nvPr>
        </p:nvSpPr>
        <p:spPr/>
        <p:txBody>
          <a:bodyPr/>
          <a:lstStyle/>
          <a:p>
            <a:fld id="{90EDC104-672A-4227-99C4-0E2CC007FDBA}" type="slidenum">
              <a:rPr lang="en-IN" smtClean="0"/>
              <a:t>13</a:t>
            </a:fld>
            <a:endParaRPr lang="en-IN"/>
          </a:p>
        </p:txBody>
      </p:sp>
      <p:sp>
        <p:nvSpPr>
          <p:cNvPr id="10" name="TextBox 9">
            <a:extLst>
              <a:ext uri="{FF2B5EF4-FFF2-40B4-BE49-F238E27FC236}">
                <a16:creationId xmlns:a16="http://schemas.microsoft.com/office/drawing/2014/main" id="{11FE894D-8BCB-0F48-50B6-0FCD623ED163}"/>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Technology Clustering</a:t>
            </a:r>
          </a:p>
        </p:txBody>
      </p:sp>
      <p:pic>
        <p:nvPicPr>
          <p:cNvPr id="6" name="Picture 5">
            <a:extLst>
              <a:ext uri="{FF2B5EF4-FFF2-40B4-BE49-F238E27FC236}">
                <a16:creationId xmlns:a16="http://schemas.microsoft.com/office/drawing/2014/main" id="{D99A9D69-C0D6-3340-9608-A11808D68F14}"/>
              </a:ext>
            </a:extLst>
          </p:cNvPr>
          <p:cNvPicPr>
            <a:picLocks noChangeAspect="1"/>
          </p:cNvPicPr>
          <p:nvPr/>
        </p:nvPicPr>
        <p:blipFill>
          <a:blip r:embed="rId2" cstate="print">
            <a:extLst>
              <a:ext uri="{28A0092B-C50C-407E-A947-70E740481C1C}">
                <a14:useLocalDpi xmlns:a14="http://schemas.microsoft.com/office/drawing/2010/main" val="0"/>
              </a:ext>
            </a:extLst>
          </a:blip>
          <a:srcRect t="11171" b="6016"/>
          <a:stretch>
            <a:fillRect/>
          </a:stretch>
        </p:blipFill>
        <p:spPr>
          <a:xfrm>
            <a:off x="1592034" y="1754231"/>
            <a:ext cx="9007932" cy="4602119"/>
          </a:xfrm>
          <a:prstGeom prst="rect">
            <a:avLst/>
          </a:prstGeom>
        </p:spPr>
      </p:pic>
    </p:spTree>
    <p:extLst>
      <p:ext uri="{BB962C8B-B14F-4D97-AF65-F5344CB8AC3E}">
        <p14:creationId xmlns:p14="http://schemas.microsoft.com/office/powerpoint/2010/main" val="1006986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B38DC-5774-16E1-6AAD-95F2B8B178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E7ECA-D28C-67F8-C14E-029BD279E156}"/>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D1DECB42-3405-8448-AAF3-9735416AAA3F}"/>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121A5234-9143-3129-D425-7C3743BB6A99}"/>
              </a:ext>
            </a:extLst>
          </p:cNvPr>
          <p:cNvSpPr>
            <a:spLocks noGrp="1"/>
          </p:cNvSpPr>
          <p:nvPr>
            <p:ph type="sldNum" sz="quarter" idx="12"/>
          </p:nvPr>
        </p:nvSpPr>
        <p:spPr/>
        <p:txBody>
          <a:bodyPr/>
          <a:lstStyle/>
          <a:p>
            <a:fld id="{90EDC104-672A-4227-99C4-0E2CC007FDBA}" type="slidenum">
              <a:rPr lang="en-IN" smtClean="0"/>
              <a:t>14</a:t>
            </a:fld>
            <a:endParaRPr lang="en-IN"/>
          </a:p>
        </p:txBody>
      </p:sp>
      <p:sp>
        <p:nvSpPr>
          <p:cNvPr id="10" name="TextBox 9">
            <a:extLst>
              <a:ext uri="{FF2B5EF4-FFF2-40B4-BE49-F238E27FC236}">
                <a16:creationId xmlns:a16="http://schemas.microsoft.com/office/drawing/2014/main" id="{BCE9A542-B936-2E1A-382C-F6982DB8D170}"/>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Technology Clustering</a:t>
            </a:r>
          </a:p>
        </p:txBody>
      </p:sp>
      <p:pic>
        <p:nvPicPr>
          <p:cNvPr id="9" name="Picture 8">
            <a:extLst>
              <a:ext uri="{FF2B5EF4-FFF2-40B4-BE49-F238E27FC236}">
                <a16:creationId xmlns:a16="http://schemas.microsoft.com/office/drawing/2014/main" id="{143EC2DA-10C0-BD49-4DE9-58D0045CC8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0755" y="1180124"/>
            <a:ext cx="7166153" cy="5087814"/>
          </a:xfrm>
          <a:prstGeom prst="rect">
            <a:avLst/>
          </a:prstGeom>
        </p:spPr>
      </p:pic>
      <p:sp>
        <p:nvSpPr>
          <p:cNvPr id="11" name="TextBox 10">
            <a:extLst>
              <a:ext uri="{FF2B5EF4-FFF2-40B4-BE49-F238E27FC236}">
                <a16:creationId xmlns:a16="http://schemas.microsoft.com/office/drawing/2014/main" id="{9C4EAAB9-D786-12E0-CB26-21614852E296}"/>
              </a:ext>
            </a:extLst>
          </p:cNvPr>
          <p:cNvSpPr txBox="1"/>
          <p:nvPr/>
        </p:nvSpPr>
        <p:spPr>
          <a:xfrm>
            <a:off x="236220" y="2710315"/>
            <a:ext cx="4267200" cy="2308324"/>
          </a:xfrm>
          <a:prstGeom prst="rect">
            <a:avLst/>
          </a:prstGeom>
          <a:noFill/>
        </p:spPr>
        <p:txBody>
          <a:bodyPr wrap="square" rtlCol="0">
            <a:spAutoFit/>
          </a:bodyPr>
          <a:lstStyle/>
          <a:p>
            <a:r>
              <a:rPr lang="en-US" dirty="0"/>
              <a:t>The UMAP visualization displays distinct, well-separated clusters with minimal overlap, indicating good differentiation between semantic groups of patents, while the presence of some internal scatter within clusters suggests a degree of semantic breadth within each defined topic.</a:t>
            </a:r>
            <a:endParaRPr lang="en-IN" dirty="0"/>
          </a:p>
        </p:txBody>
      </p:sp>
    </p:spTree>
    <p:extLst>
      <p:ext uri="{BB962C8B-B14F-4D97-AF65-F5344CB8AC3E}">
        <p14:creationId xmlns:p14="http://schemas.microsoft.com/office/powerpoint/2010/main" val="618713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ADE35-C601-8FC9-FE82-DA3370AD4B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1C6E9A-E27E-0F26-3856-639E9927E9D2}"/>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3A0550DE-E5A0-61F1-A791-4E826ACB6EE0}"/>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04D13B86-E8ED-DC28-5311-9C017E75A359}"/>
              </a:ext>
            </a:extLst>
          </p:cNvPr>
          <p:cNvSpPr>
            <a:spLocks noGrp="1"/>
          </p:cNvSpPr>
          <p:nvPr>
            <p:ph type="sldNum" sz="quarter" idx="12"/>
          </p:nvPr>
        </p:nvSpPr>
        <p:spPr/>
        <p:txBody>
          <a:bodyPr/>
          <a:lstStyle/>
          <a:p>
            <a:fld id="{90EDC104-672A-4227-99C4-0E2CC007FDBA}" type="slidenum">
              <a:rPr lang="en-IN" smtClean="0"/>
              <a:t>15</a:t>
            </a:fld>
            <a:endParaRPr lang="en-IN"/>
          </a:p>
        </p:txBody>
      </p:sp>
      <p:sp>
        <p:nvSpPr>
          <p:cNvPr id="10" name="TextBox 9">
            <a:extLst>
              <a:ext uri="{FF2B5EF4-FFF2-40B4-BE49-F238E27FC236}">
                <a16:creationId xmlns:a16="http://schemas.microsoft.com/office/drawing/2014/main" id="{09E4E9D6-A34B-CB05-48D4-34A4F1B6FAB0}"/>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Technology Clustering</a:t>
            </a:r>
          </a:p>
        </p:txBody>
      </p:sp>
      <p:pic>
        <p:nvPicPr>
          <p:cNvPr id="6" name="Picture 5">
            <a:extLst>
              <a:ext uri="{FF2B5EF4-FFF2-40B4-BE49-F238E27FC236}">
                <a16:creationId xmlns:a16="http://schemas.microsoft.com/office/drawing/2014/main" id="{83A9D468-C3C2-10D3-9193-9FBFF3A06B08}"/>
              </a:ext>
            </a:extLst>
          </p:cNvPr>
          <p:cNvPicPr>
            <a:picLocks noChangeAspect="1"/>
          </p:cNvPicPr>
          <p:nvPr/>
        </p:nvPicPr>
        <p:blipFill>
          <a:blip r:embed="rId2">
            <a:extLst>
              <a:ext uri="{28A0092B-C50C-407E-A947-70E740481C1C}">
                <a14:useLocalDpi xmlns:a14="http://schemas.microsoft.com/office/drawing/2010/main" val="0"/>
              </a:ext>
            </a:extLst>
          </a:blip>
          <a:srcRect t="51990"/>
          <a:stretch>
            <a:fillRect/>
          </a:stretch>
        </p:blipFill>
        <p:spPr>
          <a:xfrm>
            <a:off x="0" y="1941054"/>
            <a:ext cx="12192000" cy="1933179"/>
          </a:xfrm>
          <a:prstGeom prst="rect">
            <a:avLst/>
          </a:prstGeom>
        </p:spPr>
      </p:pic>
      <p:sp>
        <p:nvSpPr>
          <p:cNvPr id="7" name="TextBox 6">
            <a:extLst>
              <a:ext uri="{FF2B5EF4-FFF2-40B4-BE49-F238E27FC236}">
                <a16:creationId xmlns:a16="http://schemas.microsoft.com/office/drawing/2014/main" id="{E929BD7F-0A2D-68CA-F641-AD4E3BF67794}"/>
              </a:ext>
            </a:extLst>
          </p:cNvPr>
          <p:cNvSpPr txBox="1"/>
          <p:nvPr/>
        </p:nvSpPr>
        <p:spPr>
          <a:xfrm>
            <a:off x="579120" y="4367070"/>
            <a:ext cx="11033760" cy="646331"/>
          </a:xfrm>
          <a:prstGeom prst="rect">
            <a:avLst/>
          </a:prstGeom>
          <a:noFill/>
        </p:spPr>
        <p:txBody>
          <a:bodyPr wrap="square" rtlCol="0">
            <a:spAutoFit/>
          </a:bodyPr>
          <a:lstStyle/>
          <a:p>
            <a:r>
              <a:rPr lang="en-US" dirty="0"/>
              <a:t>The multiple UMAP plots reveal that different top applicants (e.g., Intel, Nvidia, Ford) dominate distinct semantic spaces, suggesting specialized innovation focuses across the identified patent clusters.</a:t>
            </a:r>
            <a:endParaRPr lang="en-IN" dirty="0"/>
          </a:p>
        </p:txBody>
      </p:sp>
    </p:spTree>
    <p:extLst>
      <p:ext uri="{BB962C8B-B14F-4D97-AF65-F5344CB8AC3E}">
        <p14:creationId xmlns:p14="http://schemas.microsoft.com/office/powerpoint/2010/main" val="2007809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3A855-34AF-7BA3-AE6F-3D811CF5E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A2069F-CE49-49E6-954D-5F0DD36A7A53}"/>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98998CF2-7C9B-FF29-956B-754E55838819}"/>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5D8E2E8E-484C-DF6D-17BF-436D4FECCB76}"/>
              </a:ext>
            </a:extLst>
          </p:cNvPr>
          <p:cNvSpPr>
            <a:spLocks noGrp="1"/>
          </p:cNvSpPr>
          <p:nvPr>
            <p:ph type="sldNum" sz="quarter" idx="12"/>
          </p:nvPr>
        </p:nvSpPr>
        <p:spPr/>
        <p:txBody>
          <a:bodyPr/>
          <a:lstStyle/>
          <a:p>
            <a:fld id="{90EDC104-672A-4227-99C4-0E2CC007FDBA}" type="slidenum">
              <a:rPr lang="en-IN" smtClean="0"/>
              <a:t>16</a:t>
            </a:fld>
            <a:endParaRPr lang="en-IN"/>
          </a:p>
        </p:txBody>
      </p:sp>
      <p:sp>
        <p:nvSpPr>
          <p:cNvPr id="10" name="TextBox 9">
            <a:extLst>
              <a:ext uri="{FF2B5EF4-FFF2-40B4-BE49-F238E27FC236}">
                <a16:creationId xmlns:a16="http://schemas.microsoft.com/office/drawing/2014/main" id="{868C29BD-633B-78F6-A55B-3D0597BE02FC}"/>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Technology Clustering</a:t>
            </a:r>
          </a:p>
        </p:txBody>
      </p:sp>
      <p:pic>
        <p:nvPicPr>
          <p:cNvPr id="6" name="Picture 5">
            <a:extLst>
              <a:ext uri="{FF2B5EF4-FFF2-40B4-BE49-F238E27FC236}">
                <a16:creationId xmlns:a16="http://schemas.microsoft.com/office/drawing/2014/main" id="{C62B567D-54A6-45E0-15AF-AF6F43B317D7}"/>
              </a:ext>
            </a:extLst>
          </p:cNvPr>
          <p:cNvPicPr>
            <a:picLocks noChangeAspect="1"/>
          </p:cNvPicPr>
          <p:nvPr/>
        </p:nvPicPr>
        <p:blipFill>
          <a:blip r:embed="rId2">
            <a:extLst>
              <a:ext uri="{28A0092B-C50C-407E-A947-70E740481C1C}">
                <a14:useLocalDpi xmlns:a14="http://schemas.microsoft.com/office/drawing/2010/main" val="0"/>
              </a:ext>
            </a:extLst>
          </a:blip>
          <a:srcRect l="1956" t="6030" r="49166" b="8553"/>
          <a:stretch>
            <a:fillRect/>
          </a:stretch>
        </p:blipFill>
        <p:spPr>
          <a:xfrm>
            <a:off x="5108514" y="1211385"/>
            <a:ext cx="5217562" cy="4981488"/>
          </a:xfrm>
          <a:prstGeom prst="rect">
            <a:avLst/>
          </a:prstGeom>
          <a:noFill/>
          <a:ln>
            <a:noFill/>
          </a:ln>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8A0051FA-0C56-6C1A-C7F5-90EADBA0925E}"/>
                  </a:ext>
                </a:extLst>
              </p14:cNvPr>
              <p14:cNvContentPartPr/>
              <p14:nvPr/>
            </p14:nvContentPartPr>
            <p14:xfrm>
              <a:off x="10084140" y="5367675"/>
              <a:ext cx="461880" cy="544680"/>
            </p14:xfrm>
          </p:contentPart>
        </mc:Choice>
        <mc:Fallback xmlns="">
          <p:pic>
            <p:nvPicPr>
              <p:cNvPr id="11" name="Ink 10">
                <a:extLst>
                  <a:ext uri="{FF2B5EF4-FFF2-40B4-BE49-F238E27FC236}">
                    <a16:creationId xmlns:a16="http://schemas.microsoft.com/office/drawing/2014/main" id="{8A0051FA-0C56-6C1A-C7F5-90EADBA0925E}"/>
                  </a:ext>
                </a:extLst>
              </p:cNvPr>
              <p:cNvPicPr/>
              <p:nvPr/>
            </p:nvPicPr>
            <p:blipFill>
              <a:blip r:embed="rId4"/>
              <a:stretch>
                <a:fillRect/>
              </a:stretch>
            </p:blipFill>
            <p:spPr>
              <a:xfrm>
                <a:off x="10021500" y="5305035"/>
                <a:ext cx="587520" cy="670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AE171AFE-F104-03FB-0A14-F0F6BE7C9125}"/>
                  </a:ext>
                </a:extLst>
              </p14:cNvPr>
              <p14:cNvContentPartPr/>
              <p14:nvPr/>
            </p14:nvContentPartPr>
            <p14:xfrm>
              <a:off x="9815220" y="5598795"/>
              <a:ext cx="600840" cy="522360"/>
            </p14:xfrm>
          </p:contentPart>
        </mc:Choice>
        <mc:Fallback xmlns="">
          <p:pic>
            <p:nvPicPr>
              <p:cNvPr id="12" name="Ink 11">
                <a:extLst>
                  <a:ext uri="{FF2B5EF4-FFF2-40B4-BE49-F238E27FC236}">
                    <a16:creationId xmlns:a16="http://schemas.microsoft.com/office/drawing/2014/main" id="{AE171AFE-F104-03FB-0A14-F0F6BE7C9125}"/>
                  </a:ext>
                </a:extLst>
              </p:cNvPr>
              <p:cNvPicPr/>
              <p:nvPr/>
            </p:nvPicPr>
            <p:blipFill>
              <a:blip r:embed="rId6"/>
              <a:stretch>
                <a:fillRect/>
              </a:stretch>
            </p:blipFill>
            <p:spPr>
              <a:xfrm>
                <a:off x="9752220" y="5535795"/>
                <a:ext cx="726480" cy="648000"/>
              </a:xfrm>
              <a:prstGeom prst="rect">
                <a:avLst/>
              </a:prstGeom>
            </p:spPr>
          </p:pic>
        </mc:Fallback>
      </mc:AlternateContent>
      <p:sp>
        <p:nvSpPr>
          <p:cNvPr id="13" name="TextBox 12">
            <a:extLst>
              <a:ext uri="{FF2B5EF4-FFF2-40B4-BE49-F238E27FC236}">
                <a16:creationId xmlns:a16="http://schemas.microsoft.com/office/drawing/2014/main" id="{6B6EBFDD-C9A2-2686-6AD8-6A54864FD64B}"/>
              </a:ext>
            </a:extLst>
          </p:cNvPr>
          <p:cNvSpPr txBox="1"/>
          <p:nvPr/>
        </p:nvSpPr>
        <p:spPr>
          <a:xfrm>
            <a:off x="227872" y="2413337"/>
            <a:ext cx="4835650" cy="2031325"/>
          </a:xfrm>
          <a:prstGeom prst="rect">
            <a:avLst/>
          </a:prstGeom>
          <a:noFill/>
        </p:spPr>
        <p:txBody>
          <a:bodyPr wrap="square" rtlCol="0">
            <a:spAutoFit/>
          </a:bodyPr>
          <a:lstStyle/>
          <a:p>
            <a:r>
              <a:rPr lang="en-US" dirty="0"/>
              <a:t>The heatmap reveals that while Intel and Nvidia are broadly present across multiple clusters, Ford Global Tech LLC exhibits a particularly strong concentration in Cluster 5, and Toyota Research Institute Inc. shows a notable presence in Cluster 0 and 5, suggesting distinct areas of specialized innovation for different applicants.</a:t>
            </a:r>
            <a:endParaRPr lang="en-IN" dirty="0"/>
          </a:p>
        </p:txBody>
      </p:sp>
    </p:spTree>
    <p:extLst>
      <p:ext uri="{BB962C8B-B14F-4D97-AF65-F5344CB8AC3E}">
        <p14:creationId xmlns:p14="http://schemas.microsoft.com/office/powerpoint/2010/main" val="2123924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9F259-D586-7CA5-F4A9-A18D5E38C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FA769-33C1-EEA8-5AF2-F04EB902B0D2}"/>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A6ED507F-8A10-9DAC-C275-82C9B91B5DD4}"/>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562B74DD-FBBA-2D37-1449-C29C6F389852}"/>
              </a:ext>
            </a:extLst>
          </p:cNvPr>
          <p:cNvSpPr>
            <a:spLocks noGrp="1"/>
          </p:cNvSpPr>
          <p:nvPr>
            <p:ph type="sldNum" sz="quarter" idx="12"/>
          </p:nvPr>
        </p:nvSpPr>
        <p:spPr/>
        <p:txBody>
          <a:bodyPr/>
          <a:lstStyle/>
          <a:p>
            <a:fld id="{90EDC104-672A-4227-99C4-0E2CC007FDBA}" type="slidenum">
              <a:rPr lang="en-IN" smtClean="0"/>
              <a:t>17</a:t>
            </a:fld>
            <a:endParaRPr lang="en-IN"/>
          </a:p>
        </p:txBody>
      </p:sp>
      <p:sp>
        <p:nvSpPr>
          <p:cNvPr id="10" name="TextBox 9">
            <a:extLst>
              <a:ext uri="{FF2B5EF4-FFF2-40B4-BE49-F238E27FC236}">
                <a16:creationId xmlns:a16="http://schemas.microsoft.com/office/drawing/2014/main" id="{8CE3AFF6-C9CC-EC72-0EA6-06BD3CFB8E9A}"/>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Technology Clustering</a:t>
            </a:r>
          </a:p>
        </p:txBody>
      </p:sp>
      <p:pic>
        <p:nvPicPr>
          <p:cNvPr id="7" name="Picture 6">
            <a:extLst>
              <a:ext uri="{FF2B5EF4-FFF2-40B4-BE49-F238E27FC236}">
                <a16:creationId xmlns:a16="http://schemas.microsoft.com/office/drawing/2014/main" id="{FD6E98A0-ED55-17AA-15D0-8CD77E47A320}"/>
              </a:ext>
            </a:extLst>
          </p:cNvPr>
          <p:cNvPicPr>
            <a:picLocks noChangeAspect="1"/>
          </p:cNvPicPr>
          <p:nvPr/>
        </p:nvPicPr>
        <p:blipFill>
          <a:blip r:embed="rId2" cstate="print">
            <a:extLst>
              <a:ext uri="{28A0092B-C50C-407E-A947-70E740481C1C}">
                <a14:useLocalDpi xmlns:a14="http://schemas.microsoft.com/office/drawing/2010/main" val="0"/>
              </a:ext>
            </a:extLst>
          </a:blip>
          <a:srcRect t="13604" b="6433"/>
          <a:stretch>
            <a:fillRect/>
          </a:stretch>
        </p:blipFill>
        <p:spPr>
          <a:xfrm>
            <a:off x="695569" y="1891934"/>
            <a:ext cx="10978918" cy="4321297"/>
          </a:xfrm>
          <a:prstGeom prst="rect">
            <a:avLst/>
          </a:prstGeom>
        </p:spPr>
      </p:pic>
    </p:spTree>
    <p:extLst>
      <p:ext uri="{BB962C8B-B14F-4D97-AF65-F5344CB8AC3E}">
        <p14:creationId xmlns:p14="http://schemas.microsoft.com/office/powerpoint/2010/main" val="234293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7D792-A176-1656-FD64-9B56EB1F7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A66DF2-18EF-8368-BD4B-51A4E5708B57}"/>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3C4A9F9F-752B-7A0F-F0E0-DA8C8E0CFCF2}"/>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FCFB757D-7FE9-7754-D31D-6539A2E72F8E}"/>
              </a:ext>
            </a:extLst>
          </p:cNvPr>
          <p:cNvSpPr>
            <a:spLocks noGrp="1"/>
          </p:cNvSpPr>
          <p:nvPr>
            <p:ph type="sldNum" sz="quarter" idx="12"/>
          </p:nvPr>
        </p:nvSpPr>
        <p:spPr/>
        <p:txBody>
          <a:bodyPr/>
          <a:lstStyle/>
          <a:p>
            <a:fld id="{90EDC104-672A-4227-99C4-0E2CC007FDBA}" type="slidenum">
              <a:rPr lang="en-IN" smtClean="0"/>
              <a:t>18</a:t>
            </a:fld>
            <a:endParaRPr lang="en-IN"/>
          </a:p>
        </p:txBody>
      </p:sp>
      <p:sp>
        <p:nvSpPr>
          <p:cNvPr id="10" name="TextBox 9">
            <a:extLst>
              <a:ext uri="{FF2B5EF4-FFF2-40B4-BE49-F238E27FC236}">
                <a16:creationId xmlns:a16="http://schemas.microsoft.com/office/drawing/2014/main" id="{AF0AF008-DC8E-4D62-CD47-5011CE1A159A}"/>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Technology Clustering</a:t>
            </a:r>
          </a:p>
        </p:txBody>
      </p:sp>
      <p:sp>
        <p:nvSpPr>
          <p:cNvPr id="8" name="TextBox 7">
            <a:extLst>
              <a:ext uri="{FF2B5EF4-FFF2-40B4-BE49-F238E27FC236}">
                <a16:creationId xmlns:a16="http://schemas.microsoft.com/office/drawing/2014/main" id="{27AA1469-8D08-152D-B92E-1CB32995C49A}"/>
              </a:ext>
            </a:extLst>
          </p:cNvPr>
          <p:cNvSpPr txBox="1"/>
          <p:nvPr/>
        </p:nvSpPr>
        <p:spPr>
          <a:xfrm>
            <a:off x="890954" y="2274838"/>
            <a:ext cx="8104554" cy="2677656"/>
          </a:xfrm>
          <a:prstGeom prst="rect">
            <a:avLst/>
          </a:prstGeom>
          <a:noFill/>
        </p:spPr>
        <p:txBody>
          <a:bodyPr wrap="square">
            <a:spAutoFit/>
          </a:bodyPr>
          <a:lstStyle/>
          <a:p>
            <a:pPr marL="0" indent="0">
              <a:buNone/>
            </a:pPr>
            <a:r>
              <a:rPr lang="en-US" sz="2400" dirty="0"/>
              <a:t>• 6 distinct AV technology clusters identified across 667 patents</a:t>
            </a:r>
          </a:p>
          <a:p>
            <a:pPr marL="0" indent="0">
              <a:buNone/>
            </a:pPr>
            <a:r>
              <a:rPr lang="en-US" sz="2400" dirty="0"/>
              <a:t>• Vehicle Systems largest cluster (197 patents, 29.5% of total)</a:t>
            </a:r>
          </a:p>
          <a:p>
            <a:pPr marL="0" indent="0">
              <a:buNone/>
            </a:pPr>
            <a:r>
              <a:rPr lang="en-US" sz="2400" dirty="0"/>
              <a:t>• Intel most diversified player (active in all 6 clusters)</a:t>
            </a:r>
          </a:p>
          <a:p>
            <a:pPr marL="0" indent="0">
              <a:buNone/>
            </a:pPr>
            <a:r>
              <a:rPr lang="en-US" sz="2400" dirty="0"/>
              <a:t>• Wireless &amp; Hardware show highest market concentration</a:t>
            </a:r>
          </a:p>
          <a:p>
            <a:pPr marL="0" indent="0">
              <a:buNone/>
            </a:pPr>
            <a:r>
              <a:rPr lang="en-US" sz="2400" dirty="0"/>
              <a:t>• 8+ year innovation timeline (2014-2022) shows sustained R&amp;D</a:t>
            </a:r>
          </a:p>
          <a:p>
            <a:pPr marL="0" indent="0">
              <a:buNone/>
            </a:pPr>
            <a:r>
              <a:rPr lang="en-US" sz="2400" dirty="0"/>
              <a:t>• Technology areas range from low-level hardware to high-level AI applications</a:t>
            </a:r>
            <a:endParaRPr lang="en-IN" sz="2400" dirty="0"/>
          </a:p>
        </p:txBody>
      </p:sp>
    </p:spTree>
    <p:extLst>
      <p:ext uri="{BB962C8B-B14F-4D97-AF65-F5344CB8AC3E}">
        <p14:creationId xmlns:p14="http://schemas.microsoft.com/office/powerpoint/2010/main" val="2562280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A6C9B-2FF4-1EEF-F842-8E9C8FF325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358469-7147-6C2D-A741-F0102B11E778}"/>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77F15EBD-62B0-88D0-9529-448BA283D252}"/>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EA8B2E15-5C8A-6EF1-1548-CA75100CD978}"/>
              </a:ext>
            </a:extLst>
          </p:cNvPr>
          <p:cNvSpPr>
            <a:spLocks noGrp="1"/>
          </p:cNvSpPr>
          <p:nvPr>
            <p:ph type="sldNum" sz="quarter" idx="12"/>
          </p:nvPr>
        </p:nvSpPr>
        <p:spPr/>
        <p:txBody>
          <a:bodyPr/>
          <a:lstStyle/>
          <a:p>
            <a:fld id="{90EDC104-672A-4227-99C4-0E2CC007FDBA}" type="slidenum">
              <a:rPr lang="en-IN" smtClean="0"/>
              <a:t>19</a:t>
            </a:fld>
            <a:endParaRPr lang="en-IN"/>
          </a:p>
        </p:txBody>
      </p:sp>
      <p:sp>
        <p:nvSpPr>
          <p:cNvPr id="10" name="TextBox 9">
            <a:extLst>
              <a:ext uri="{FF2B5EF4-FFF2-40B4-BE49-F238E27FC236}">
                <a16:creationId xmlns:a16="http://schemas.microsoft.com/office/drawing/2014/main" id="{BD3F51E9-2345-EBC8-80E9-7B412439238B}"/>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Innovation Trend Analysis</a:t>
            </a:r>
          </a:p>
        </p:txBody>
      </p:sp>
      <p:pic>
        <p:nvPicPr>
          <p:cNvPr id="8" name="Picture 7">
            <a:extLst>
              <a:ext uri="{FF2B5EF4-FFF2-40B4-BE49-F238E27FC236}">
                <a16:creationId xmlns:a16="http://schemas.microsoft.com/office/drawing/2014/main" id="{6C97E29E-46C4-FCB7-FA23-931C97DA0A05}"/>
              </a:ext>
            </a:extLst>
          </p:cNvPr>
          <p:cNvPicPr>
            <a:picLocks noChangeAspect="1"/>
          </p:cNvPicPr>
          <p:nvPr/>
        </p:nvPicPr>
        <p:blipFill>
          <a:blip r:embed="rId2"/>
          <a:stretch>
            <a:fillRect/>
          </a:stretch>
        </p:blipFill>
        <p:spPr>
          <a:xfrm>
            <a:off x="2194968" y="1862943"/>
            <a:ext cx="7802064" cy="4210638"/>
          </a:xfrm>
          <a:prstGeom prst="rect">
            <a:avLst/>
          </a:prstGeom>
        </p:spPr>
      </p:pic>
    </p:spTree>
    <p:extLst>
      <p:ext uri="{BB962C8B-B14F-4D97-AF65-F5344CB8AC3E}">
        <p14:creationId xmlns:p14="http://schemas.microsoft.com/office/powerpoint/2010/main" val="44890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64635-0814-28CD-5105-49C60F23D9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EC97B1-EBC5-2316-AC7B-792DDD0E66D0}"/>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85703285-B7A6-996E-9ECC-F3877C051EF5}"/>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9B6BF889-7066-09FE-23D5-D5062516E14A}"/>
              </a:ext>
            </a:extLst>
          </p:cNvPr>
          <p:cNvSpPr>
            <a:spLocks noGrp="1"/>
          </p:cNvSpPr>
          <p:nvPr>
            <p:ph type="sldNum" sz="quarter" idx="12"/>
          </p:nvPr>
        </p:nvSpPr>
        <p:spPr/>
        <p:txBody>
          <a:bodyPr/>
          <a:lstStyle/>
          <a:p>
            <a:fld id="{90EDC104-672A-4227-99C4-0E2CC007FDBA}" type="slidenum">
              <a:rPr lang="en-IN" smtClean="0"/>
              <a:t>20</a:t>
            </a:fld>
            <a:endParaRPr lang="en-IN"/>
          </a:p>
        </p:txBody>
      </p:sp>
      <p:sp>
        <p:nvSpPr>
          <p:cNvPr id="10" name="TextBox 9">
            <a:extLst>
              <a:ext uri="{FF2B5EF4-FFF2-40B4-BE49-F238E27FC236}">
                <a16:creationId xmlns:a16="http://schemas.microsoft.com/office/drawing/2014/main" id="{0302B7F6-3D74-DA5D-70E7-EAD4BF299824}"/>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Innovation Trend Analysis</a:t>
            </a:r>
          </a:p>
        </p:txBody>
      </p:sp>
      <p:pic>
        <p:nvPicPr>
          <p:cNvPr id="6" name="Picture 5">
            <a:extLst>
              <a:ext uri="{FF2B5EF4-FFF2-40B4-BE49-F238E27FC236}">
                <a16:creationId xmlns:a16="http://schemas.microsoft.com/office/drawing/2014/main" id="{0BF9178E-F8BA-7F4C-D3BB-54577FCD15C6}"/>
              </a:ext>
            </a:extLst>
          </p:cNvPr>
          <p:cNvPicPr>
            <a:picLocks noChangeAspect="1"/>
          </p:cNvPicPr>
          <p:nvPr/>
        </p:nvPicPr>
        <p:blipFill>
          <a:blip r:embed="rId2"/>
          <a:stretch>
            <a:fillRect/>
          </a:stretch>
        </p:blipFill>
        <p:spPr>
          <a:xfrm>
            <a:off x="6791569" y="1980594"/>
            <a:ext cx="5239125" cy="3816152"/>
          </a:xfrm>
          <a:prstGeom prst="rect">
            <a:avLst/>
          </a:prstGeom>
        </p:spPr>
      </p:pic>
      <p:pic>
        <p:nvPicPr>
          <p:cNvPr id="9" name="Picture 8">
            <a:extLst>
              <a:ext uri="{FF2B5EF4-FFF2-40B4-BE49-F238E27FC236}">
                <a16:creationId xmlns:a16="http://schemas.microsoft.com/office/drawing/2014/main" id="{956EC7F9-B5E0-A242-66F9-68E4A0E3AF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305" y="1738317"/>
            <a:ext cx="6356725" cy="4549060"/>
          </a:xfrm>
          <a:prstGeom prst="rect">
            <a:avLst/>
          </a:prstGeom>
        </p:spPr>
      </p:pic>
    </p:spTree>
    <p:extLst>
      <p:ext uri="{BB962C8B-B14F-4D97-AF65-F5344CB8AC3E}">
        <p14:creationId xmlns:p14="http://schemas.microsoft.com/office/powerpoint/2010/main" val="1657889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6433D-56FA-7884-1991-83D8B545B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59A25-D15B-29AF-06BE-6904953E988E}"/>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B422418D-6E56-EDDC-C549-781FB587EEFD}"/>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9C0AD15B-87FF-A211-2525-022E00549E69}"/>
              </a:ext>
            </a:extLst>
          </p:cNvPr>
          <p:cNvSpPr>
            <a:spLocks noGrp="1"/>
          </p:cNvSpPr>
          <p:nvPr>
            <p:ph type="sldNum" sz="quarter" idx="12"/>
          </p:nvPr>
        </p:nvSpPr>
        <p:spPr/>
        <p:txBody>
          <a:bodyPr/>
          <a:lstStyle/>
          <a:p>
            <a:fld id="{90EDC104-672A-4227-99C4-0E2CC007FDBA}" type="slidenum">
              <a:rPr lang="en-IN" smtClean="0"/>
              <a:t>21</a:t>
            </a:fld>
            <a:endParaRPr lang="en-IN"/>
          </a:p>
        </p:txBody>
      </p:sp>
      <p:sp>
        <p:nvSpPr>
          <p:cNvPr id="10" name="TextBox 9">
            <a:extLst>
              <a:ext uri="{FF2B5EF4-FFF2-40B4-BE49-F238E27FC236}">
                <a16:creationId xmlns:a16="http://schemas.microsoft.com/office/drawing/2014/main" id="{8B69E6B2-27F0-69B7-F28E-3CD47CECEB3E}"/>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Innovation Trend Analysis</a:t>
            </a:r>
          </a:p>
        </p:txBody>
      </p:sp>
      <p:pic>
        <p:nvPicPr>
          <p:cNvPr id="7" name="Picture 6">
            <a:extLst>
              <a:ext uri="{FF2B5EF4-FFF2-40B4-BE49-F238E27FC236}">
                <a16:creationId xmlns:a16="http://schemas.microsoft.com/office/drawing/2014/main" id="{F482A2DC-1F87-9A85-4681-2837C07BAF5A}"/>
              </a:ext>
            </a:extLst>
          </p:cNvPr>
          <p:cNvPicPr>
            <a:picLocks noChangeAspect="1"/>
          </p:cNvPicPr>
          <p:nvPr/>
        </p:nvPicPr>
        <p:blipFill>
          <a:blip r:embed="rId2"/>
          <a:stretch>
            <a:fillRect/>
          </a:stretch>
        </p:blipFill>
        <p:spPr>
          <a:xfrm>
            <a:off x="6791569" y="2139172"/>
            <a:ext cx="5086124" cy="3540094"/>
          </a:xfrm>
          <a:prstGeom prst="rect">
            <a:avLst/>
          </a:prstGeom>
        </p:spPr>
      </p:pic>
      <p:pic>
        <p:nvPicPr>
          <p:cNvPr id="9" name="Picture 8">
            <a:extLst>
              <a:ext uri="{FF2B5EF4-FFF2-40B4-BE49-F238E27FC236}">
                <a16:creationId xmlns:a16="http://schemas.microsoft.com/office/drawing/2014/main" id="{9D6C9F7D-5542-47AC-9E9D-944D6BDD70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94" y="1675360"/>
            <a:ext cx="6561330" cy="4692086"/>
          </a:xfrm>
          <a:prstGeom prst="rect">
            <a:avLst/>
          </a:prstGeom>
        </p:spPr>
      </p:pic>
    </p:spTree>
    <p:extLst>
      <p:ext uri="{BB962C8B-B14F-4D97-AF65-F5344CB8AC3E}">
        <p14:creationId xmlns:p14="http://schemas.microsoft.com/office/powerpoint/2010/main" val="389977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93AAE-C5AB-4909-1119-57404857C2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754828-6000-3561-B4A2-C8AFCF5F7C8C}"/>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92BA106C-6A1B-C151-C047-58B2EE65B6A1}"/>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A6DD24A1-D909-9D7F-E5CA-08BB8FE64F3C}"/>
              </a:ext>
            </a:extLst>
          </p:cNvPr>
          <p:cNvSpPr>
            <a:spLocks noGrp="1"/>
          </p:cNvSpPr>
          <p:nvPr>
            <p:ph type="sldNum" sz="quarter" idx="12"/>
          </p:nvPr>
        </p:nvSpPr>
        <p:spPr/>
        <p:txBody>
          <a:bodyPr/>
          <a:lstStyle/>
          <a:p>
            <a:fld id="{90EDC104-672A-4227-99C4-0E2CC007FDBA}" type="slidenum">
              <a:rPr lang="en-IN" smtClean="0"/>
              <a:t>22</a:t>
            </a:fld>
            <a:endParaRPr lang="en-IN"/>
          </a:p>
        </p:txBody>
      </p:sp>
      <p:sp>
        <p:nvSpPr>
          <p:cNvPr id="10" name="TextBox 9">
            <a:extLst>
              <a:ext uri="{FF2B5EF4-FFF2-40B4-BE49-F238E27FC236}">
                <a16:creationId xmlns:a16="http://schemas.microsoft.com/office/drawing/2014/main" id="{1AE6C7F5-F242-49E7-21BC-FBBF9C3D7344}"/>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Innovation Trend Analysis</a:t>
            </a:r>
          </a:p>
        </p:txBody>
      </p:sp>
      <p:pic>
        <p:nvPicPr>
          <p:cNvPr id="6" name="Picture 5">
            <a:extLst>
              <a:ext uri="{FF2B5EF4-FFF2-40B4-BE49-F238E27FC236}">
                <a16:creationId xmlns:a16="http://schemas.microsoft.com/office/drawing/2014/main" id="{BC01165E-9DDB-9B81-B7A7-AEA719E46FE7}"/>
              </a:ext>
            </a:extLst>
          </p:cNvPr>
          <p:cNvPicPr>
            <a:picLocks noChangeAspect="1"/>
          </p:cNvPicPr>
          <p:nvPr/>
        </p:nvPicPr>
        <p:blipFill>
          <a:blip r:embed="rId2"/>
          <a:stretch>
            <a:fillRect/>
          </a:stretch>
        </p:blipFill>
        <p:spPr>
          <a:xfrm>
            <a:off x="5267569" y="1559287"/>
            <a:ext cx="6557247" cy="4513218"/>
          </a:xfrm>
          <a:prstGeom prst="rect">
            <a:avLst/>
          </a:prstGeom>
        </p:spPr>
      </p:pic>
      <p:pic>
        <p:nvPicPr>
          <p:cNvPr id="9" name="Picture 8">
            <a:extLst>
              <a:ext uri="{FF2B5EF4-FFF2-40B4-BE49-F238E27FC236}">
                <a16:creationId xmlns:a16="http://schemas.microsoft.com/office/drawing/2014/main" id="{28B357BF-5BFA-9071-A538-F1025766730C}"/>
              </a:ext>
            </a:extLst>
          </p:cNvPr>
          <p:cNvPicPr>
            <a:picLocks noChangeAspect="1"/>
          </p:cNvPicPr>
          <p:nvPr/>
        </p:nvPicPr>
        <p:blipFill>
          <a:blip r:embed="rId3" cstate="print">
            <a:extLst>
              <a:ext uri="{28A0092B-C50C-407E-A947-70E740481C1C}">
                <a14:useLocalDpi xmlns:a14="http://schemas.microsoft.com/office/drawing/2010/main" val="0"/>
              </a:ext>
            </a:extLst>
          </a:blip>
          <a:srcRect t="-2" b="80082"/>
          <a:stretch>
            <a:fillRect/>
          </a:stretch>
        </p:blipFill>
        <p:spPr>
          <a:xfrm>
            <a:off x="169075" y="1760336"/>
            <a:ext cx="4476945" cy="1473810"/>
          </a:xfrm>
          <a:prstGeom prst="rect">
            <a:avLst/>
          </a:prstGeom>
        </p:spPr>
      </p:pic>
      <p:pic>
        <p:nvPicPr>
          <p:cNvPr id="11" name="Picture 10">
            <a:extLst>
              <a:ext uri="{FF2B5EF4-FFF2-40B4-BE49-F238E27FC236}">
                <a16:creationId xmlns:a16="http://schemas.microsoft.com/office/drawing/2014/main" id="{FE4F8589-43A9-00A5-8862-F046E577CA9E}"/>
              </a:ext>
            </a:extLst>
          </p:cNvPr>
          <p:cNvPicPr>
            <a:picLocks noChangeAspect="1"/>
          </p:cNvPicPr>
          <p:nvPr/>
        </p:nvPicPr>
        <p:blipFill>
          <a:blip r:embed="rId3" cstate="print">
            <a:extLst>
              <a:ext uri="{28A0092B-C50C-407E-A947-70E740481C1C}">
                <a14:useLocalDpi xmlns:a14="http://schemas.microsoft.com/office/drawing/2010/main" val="0"/>
              </a:ext>
            </a:extLst>
          </a:blip>
          <a:srcRect t="39754" b="39889"/>
          <a:stretch>
            <a:fillRect/>
          </a:stretch>
        </p:blipFill>
        <p:spPr>
          <a:xfrm>
            <a:off x="169075" y="4922846"/>
            <a:ext cx="4413739" cy="1484907"/>
          </a:xfrm>
          <a:prstGeom prst="rect">
            <a:avLst/>
          </a:prstGeom>
        </p:spPr>
      </p:pic>
      <p:pic>
        <p:nvPicPr>
          <p:cNvPr id="12" name="Picture 11">
            <a:extLst>
              <a:ext uri="{FF2B5EF4-FFF2-40B4-BE49-F238E27FC236}">
                <a16:creationId xmlns:a16="http://schemas.microsoft.com/office/drawing/2014/main" id="{71E7C48A-1AA0-A011-A068-2304AA2BF838}"/>
              </a:ext>
            </a:extLst>
          </p:cNvPr>
          <p:cNvPicPr>
            <a:picLocks noChangeAspect="1"/>
          </p:cNvPicPr>
          <p:nvPr/>
        </p:nvPicPr>
        <p:blipFill>
          <a:blip r:embed="rId3" cstate="print">
            <a:extLst>
              <a:ext uri="{28A0092B-C50C-407E-A947-70E740481C1C}">
                <a14:useLocalDpi xmlns:a14="http://schemas.microsoft.com/office/drawing/2010/main" val="0"/>
              </a:ext>
            </a:extLst>
          </a:blip>
          <a:srcRect t="20360" b="59815"/>
          <a:stretch>
            <a:fillRect/>
          </a:stretch>
        </p:blipFill>
        <p:spPr>
          <a:xfrm>
            <a:off x="84163" y="3360615"/>
            <a:ext cx="4561857" cy="1494661"/>
          </a:xfrm>
          <a:prstGeom prst="rect">
            <a:avLst/>
          </a:prstGeom>
        </p:spPr>
      </p:pic>
    </p:spTree>
    <p:extLst>
      <p:ext uri="{BB962C8B-B14F-4D97-AF65-F5344CB8AC3E}">
        <p14:creationId xmlns:p14="http://schemas.microsoft.com/office/powerpoint/2010/main" val="3214006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6D177-16BD-BFDC-8880-DB79DF55E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96E46-EDBA-D2A1-A7E4-AF76D10A88E7}"/>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7D356E43-8D11-69CA-95F4-C5DDC649D382}"/>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7428E0E8-1DFC-16F9-7B1D-7D4D779492DC}"/>
              </a:ext>
            </a:extLst>
          </p:cNvPr>
          <p:cNvSpPr>
            <a:spLocks noGrp="1"/>
          </p:cNvSpPr>
          <p:nvPr>
            <p:ph type="sldNum" sz="quarter" idx="12"/>
          </p:nvPr>
        </p:nvSpPr>
        <p:spPr/>
        <p:txBody>
          <a:bodyPr/>
          <a:lstStyle/>
          <a:p>
            <a:fld id="{90EDC104-672A-4227-99C4-0E2CC007FDBA}" type="slidenum">
              <a:rPr lang="en-IN" smtClean="0"/>
              <a:t>23</a:t>
            </a:fld>
            <a:endParaRPr lang="en-IN"/>
          </a:p>
        </p:txBody>
      </p:sp>
      <p:sp>
        <p:nvSpPr>
          <p:cNvPr id="10" name="TextBox 9">
            <a:extLst>
              <a:ext uri="{FF2B5EF4-FFF2-40B4-BE49-F238E27FC236}">
                <a16:creationId xmlns:a16="http://schemas.microsoft.com/office/drawing/2014/main" id="{912483EA-9B87-FFE9-57E8-B79A6001D0C0}"/>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Innovation Trend Analysis</a:t>
            </a:r>
          </a:p>
        </p:txBody>
      </p:sp>
      <p:sp>
        <p:nvSpPr>
          <p:cNvPr id="9" name="Rectangle 2">
            <a:extLst>
              <a:ext uri="{FF2B5EF4-FFF2-40B4-BE49-F238E27FC236}">
                <a16:creationId xmlns:a16="http://schemas.microsoft.com/office/drawing/2014/main" id="{12C8E22E-0FE0-7D3C-2CDC-6FA7716B047F}"/>
              </a:ext>
            </a:extLst>
          </p:cNvPr>
          <p:cNvSpPr>
            <a:spLocks noGrp="1" noChangeArrowheads="1"/>
          </p:cNvSpPr>
          <p:nvPr>
            <p:ph idx="1"/>
          </p:nvPr>
        </p:nvSpPr>
        <p:spPr bwMode="auto">
          <a:xfrm>
            <a:off x="732594" y="2602985"/>
            <a:ext cx="996090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"Computer memory" and "training data" show strongest growth (r&gt;0.86) </a:t>
            </a: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Traditional storage concepts declining as cloud/edge computing rises </a:t>
            </a:r>
          </a:p>
          <a:p>
            <a:pPr eaLnBrk="0" fontAlgn="base" hangingPunct="0">
              <a:lnSpc>
                <a:spcPct val="100000"/>
              </a:lnSpc>
              <a:spcBef>
                <a:spcPct val="0"/>
              </a:spcBef>
              <a:spcAft>
                <a:spcPct val="0"/>
              </a:spcAft>
            </a:pPr>
            <a:r>
              <a:rPr lang="en-US" altLang="en-US" sz="2400" dirty="0">
                <a:latin typeface="Arial" panose="020B0604020202020204" pitchFamily="34" charset="0"/>
              </a:rPr>
              <a:t>C</a:t>
            </a:r>
            <a:r>
              <a:rPr kumimoji="0" lang="en-US" altLang="en-US" sz="2400" b="0" i="0" u="none" strike="noStrike" cap="none" normalizeH="0" baseline="0" dirty="0">
                <a:ln>
                  <a:noFill/>
                </a:ln>
                <a:solidFill>
                  <a:schemeClr val="tx1"/>
                </a:solidFill>
                <a:effectLst/>
                <a:latin typeface="Arial" panose="020B0604020202020204" pitchFamily="34" charset="0"/>
              </a:rPr>
              <a:t>lear shift from basic ML to specialized deep learning operations </a:t>
            </a: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Intel and NVIDIA leading with 268 patents combined (40% of total) </a:t>
            </a:r>
          </a:p>
        </p:txBody>
      </p:sp>
    </p:spTree>
    <p:extLst>
      <p:ext uri="{BB962C8B-B14F-4D97-AF65-F5344CB8AC3E}">
        <p14:creationId xmlns:p14="http://schemas.microsoft.com/office/powerpoint/2010/main" val="3742800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7A173-875E-1D40-4816-C7466FAB1A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BE211-3D6A-4443-58E0-DED264AAA561}"/>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5B28506F-68C0-3477-2379-1E6A11E6B54B}"/>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7E23B123-76A7-9675-E2F2-0F311FA68D1E}"/>
              </a:ext>
            </a:extLst>
          </p:cNvPr>
          <p:cNvSpPr>
            <a:spLocks noGrp="1"/>
          </p:cNvSpPr>
          <p:nvPr>
            <p:ph type="sldNum" sz="quarter" idx="12"/>
          </p:nvPr>
        </p:nvSpPr>
        <p:spPr/>
        <p:txBody>
          <a:bodyPr/>
          <a:lstStyle/>
          <a:p>
            <a:fld id="{90EDC104-672A-4227-99C4-0E2CC007FDBA}" type="slidenum">
              <a:rPr lang="en-IN" smtClean="0"/>
              <a:t>24</a:t>
            </a:fld>
            <a:endParaRPr lang="en-IN"/>
          </a:p>
        </p:txBody>
      </p:sp>
      <p:sp>
        <p:nvSpPr>
          <p:cNvPr id="10" name="TextBox 9">
            <a:extLst>
              <a:ext uri="{FF2B5EF4-FFF2-40B4-BE49-F238E27FC236}">
                <a16:creationId xmlns:a16="http://schemas.microsoft.com/office/drawing/2014/main" id="{1410741E-5973-2E39-764A-683680AEEA7E}"/>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Technology Emergence Analysis</a:t>
            </a:r>
          </a:p>
        </p:txBody>
      </p:sp>
      <p:pic>
        <p:nvPicPr>
          <p:cNvPr id="6" name="Picture 5">
            <a:extLst>
              <a:ext uri="{FF2B5EF4-FFF2-40B4-BE49-F238E27FC236}">
                <a16:creationId xmlns:a16="http://schemas.microsoft.com/office/drawing/2014/main" id="{B23C7C86-127F-6028-EA85-4324BA76D73C}"/>
              </a:ext>
            </a:extLst>
          </p:cNvPr>
          <p:cNvPicPr>
            <a:picLocks noChangeAspect="1"/>
          </p:cNvPicPr>
          <p:nvPr/>
        </p:nvPicPr>
        <p:blipFill>
          <a:blip r:embed="rId2"/>
          <a:stretch>
            <a:fillRect/>
          </a:stretch>
        </p:blipFill>
        <p:spPr>
          <a:xfrm>
            <a:off x="5643968" y="1810438"/>
            <a:ext cx="5933264" cy="4207358"/>
          </a:xfrm>
          <a:prstGeom prst="rect">
            <a:avLst/>
          </a:prstGeom>
        </p:spPr>
      </p:pic>
      <p:sp>
        <p:nvSpPr>
          <p:cNvPr id="7" name="TextBox 6">
            <a:extLst>
              <a:ext uri="{FF2B5EF4-FFF2-40B4-BE49-F238E27FC236}">
                <a16:creationId xmlns:a16="http://schemas.microsoft.com/office/drawing/2014/main" id="{AC13313F-3669-4F2E-DA34-21A400BE3C16}"/>
              </a:ext>
            </a:extLst>
          </p:cNvPr>
          <p:cNvSpPr txBox="1"/>
          <p:nvPr/>
        </p:nvSpPr>
        <p:spPr>
          <a:xfrm>
            <a:off x="388620" y="3268980"/>
            <a:ext cx="4983480" cy="1477328"/>
          </a:xfrm>
          <a:prstGeom prst="rect">
            <a:avLst/>
          </a:prstGeom>
          <a:noFill/>
        </p:spPr>
        <p:txBody>
          <a:bodyPr wrap="square" rtlCol="0">
            <a:spAutoFit/>
          </a:bodyPr>
          <a:lstStyle/>
          <a:p>
            <a:r>
              <a:rPr lang="en-US" dirty="0"/>
              <a:t>The table identifies Perception &amp; Sensing as the most emergent and V2X Communication as the fastest-growing technology, indicating key areas of rapid advancement and strategic importance within autonomous vehicles.</a:t>
            </a:r>
            <a:endParaRPr lang="en-IN" dirty="0"/>
          </a:p>
        </p:txBody>
      </p:sp>
    </p:spTree>
    <p:extLst>
      <p:ext uri="{BB962C8B-B14F-4D97-AF65-F5344CB8AC3E}">
        <p14:creationId xmlns:p14="http://schemas.microsoft.com/office/powerpoint/2010/main" val="1450927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70C4D-4251-DF21-36A6-E6A8C4D0A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DF140-7108-C53A-A3D7-35D004A4FDC0}"/>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1374A752-E47C-9828-E238-4C8EBCCA9A96}"/>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7D8E31F9-DF03-AA13-A5A4-ED736738D00A}"/>
              </a:ext>
            </a:extLst>
          </p:cNvPr>
          <p:cNvSpPr>
            <a:spLocks noGrp="1"/>
          </p:cNvSpPr>
          <p:nvPr>
            <p:ph type="sldNum" sz="quarter" idx="12"/>
          </p:nvPr>
        </p:nvSpPr>
        <p:spPr/>
        <p:txBody>
          <a:bodyPr/>
          <a:lstStyle/>
          <a:p>
            <a:fld id="{90EDC104-672A-4227-99C4-0E2CC007FDBA}" type="slidenum">
              <a:rPr lang="en-IN" smtClean="0"/>
              <a:t>25</a:t>
            </a:fld>
            <a:endParaRPr lang="en-IN"/>
          </a:p>
        </p:txBody>
      </p:sp>
      <p:sp>
        <p:nvSpPr>
          <p:cNvPr id="10" name="TextBox 9">
            <a:extLst>
              <a:ext uri="{FF2B5EF4-FFF2-40B4-BE49-F238E27FC236}">
                <a16:creationId xmlns:a16="http://schemas.microsoft.com/office/drawing/2014/main" id="{8EC30FC3-8878-AB4E-9856-53B16E82080D}"/>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Technology Emergence Analysis</a:t>
            </a:r>
          </a:p>
        </p:txBody>
      </p:sp>
      <p:pic>
        <p:nvPicPr>
          <p:cNvPr id="7" name="Picture 6">
            <a:extLst>
              <a:ext uri="{FF2B5EF4-FFF2-40B4-BE49-F238E27FC236}">
                <a16:creationId xmlns:a16="http://schemas.microsoft.com/office/drawing/2014/main" id="{0AB7FBF9-CCF4-2ED4-C2B3-18FE1BDF13AB}"/>
              </a:ext>
            </a:extLst>
          </p:cNvPr>
          <p:cNvPicPr>
            <a:picLocks noChangeAspect="1"/>
          </p:cNvPicPr>
          <p:nvPr/>
        </p:nvPicPr>
        <p:blipFill>
          <a:blip r:embed="rId2" cstate="print">
            <a:extLst>
              <a:ext uri="{28A0092B-C50C-407E-A947-70E740481C1C}">
                <a14:useLocalDpi xmlns:a14="http://schemas.microsoft.com/office/drawing/2010/main" val="0"/>
              </a:ext>
            </a:extLst>
          </a:blip>
          <a:srcRect t="7400" r="54023" b="45979"/>
          <a:stretch>
            <a:fillRect/>
          </a:stretch>
        </p:blipFill>
        <p:spPr>
          <a:xfrm>
            <a:off x="5333669" y="1770647"/>
            <a:ext cx="6279993" cy="4585703"/>
          </a:xfrm>
          <a:prstGeom prst="rect">
            <a:avLst/>
          </a:prstGeom>
        </p:spPr>
      </p:pic>
      <p:sp>
        <p:nvSpPr>
          <p:cNvPr id="8" name="TextBox 7">
            <a:extLst>
              <a:ext uri="{FF2B5EF4-FFF2-40B4-BE49-F238E27FC236}">
                <a16:creationId xmlns:a16="http://schemas.microsoft.com/office/drawing/2014/main" id="{87FD8B16-F7C9-40B9-4AC9-231077A05CD3}"/>
              </a:ext>
            </a:extLst>
          </p:cNvPr>
          <p:cNvSpPr txBox="1"/>
          <p:nvPr/>
        </p:nvSpPr>
        <p:spPr>
          <a:xfrm>
            <a:off x="213029" y="2602985"/>
            <a:ext cx="5120640" cy="2308324"/>
          </a:xfrm>
          <a:prstGeom prst="rect">
            <a:avLst/>
          </a:prstGeom>
          <a:noFill/>
        </p:spPr>
        <p:txBody>
          <a:bodyPr wrap="square" rtlCol="0">
            <a:spAutoFit/>
          </a:bodyPr>
          <a:lstStyle/>
          <a:p>
            <a:r>
              <a:rPr lang="en-US" dirty="0"/>
              <a:t>The scatter plot illustrates that technologies with higher emergence scores tend to have higher growth rates, and those with more total patents (larger bubble size) and higher applicant diversity (yellowish color) generally occupy the upper-right quadrant, indicating a positive correlation between these metrics.</a:t>
            </a:r>
          </a:p>
          <a:p>
            <a:endParaRPr lang="en-IN" dirty="0"/>
          </a:p>
        </p:txBody>
      </p:sp>
    </p:spTree>
    <p:extLst>
      <p:ext uri="{BB962C8B-B14F-4D97-AF65-F5344CB8AC3E}">
        <p14:creationId xmlns:p14="http://schemas.microsoft.com/office/powerpoint/2010/main" val="36722416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2803E-3C87-F21C-E650-F18216864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43CE1-710A-7544-1690-225427357654}"/>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4F7B7D18-899D-0525-F72B-5661B2E1B386}"/>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49283E3E-B54B-567D-A790-C44C8D19049F}"/>
              </a:ext>
            </a:extLst>
          </p:cNvPr>
          <p:cNvSpPr>
            <a:spLocks noGrp="1"/>
          </p:cNvSpPr>
          <p:nvPr>
            <p:ph type="sldNum" sz="quarter" idx="12"/>
          </p:nvPr>
        </p:nvSpPr>
        <p:spPr/>
        <p:txBody>
          <a:bodyPr/>
          <a:lstStyle/>
          <a:p>
            <a:fld id="{90EDC104-672A-4227-99C4-0E2CC007FDBA}" type="slidenum">
              <a:rPr lang="en-IN" smtClean="0"/>
              <a:t>26</a:t>
            </a:fld>
            <a:endParaRPr lang="en-IN"/>
          </a:p>
        </p:txBody>
      </p:sp>
      <p:sp>
        <p:nvSpPr>
          <p:cNvPr id="10" name="TextBox 9">
            <a:extLst>
              <a:ext uri="{FF2B5EF4-FFF2-40B4-BE49-F238E27FC236}">
                <a16:creationId xmlns:a16="http://schemas.microsoft.com/office/drawing/2014/main" id="{5A69D79B-A3C7-A3A5-2F29-88B12F5FD60F}"/>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Technology Emergence Analysis</a:t>
            </a:r>
          </a:p>
        </p:txBody>
      </p:sp>
      <p:pic>
        <p:nvPicPr>
          <p:cNvPr id="6" name="Picture 5">
            <a:extLst>
              <a:ext uri="{FF2B5EF4-FFF2-40B4-BE49-F238E27FC236}">
                <a16:creationId xmlns:a16="http://schemas.microsoft.com/office/drawing/2014/main" id="{B1B3B69C-4F47-8A56-FCCB-3B8928A36400}"/>
              </a:ext>
            </a:extLst>
          </p:cNvPr>
          <p:cNvPicPr>
            <a:picLocks noChangeAspect="1"/>
          </p:cNvPicPr>
          <p:nvPr/>
        </p:nvPicPr>
        <p:blipFill>
          <a:blip r:embed="rId2" cstate="print">
            <a:extLst>
              <a:ext uri="{28A0092B-C50C-407E-A947-70E740481C1C}">
                <a14:useLocalDpi xmlns:a14="http://schemas.microsoft.com/office/drawing/2010/main" val="0"/>
              </a:ext>
            </a:extLst>
          </a:blip>
          <a:srcRect l="52380" t="55270"/>
          <a:stretch>
            <a:fillRect/>
          </a:stretch>
        </p:blipFill>
        <p:spPr>
          <a:xfrm>
            <a:off x="5129136" y="1800642"/>
            <a:ext cx="6592859" cy="4459481"/>
          </a:xfrm>
          <a:prstGeom prst="rect">
            <a:avLst/>
          </a:prstGeom>
        </p:spPr>
      </p:pic>
      <p:sp>
        <p:nvSpPr>
          <p:cNvPr id="8" name="TextBox 7">
            <a:extLst>
              <a:ext uri="{FF2B5EF4-FFF2-40B4-BE49-F238E27FC236}">
                <a16:creationId xmlns:a16="http://schemas.microsoft.com/office/drawing/2014/main" id="{3E5AF504-94D1-9A67-24DC-F88D22DABE11}"/>
              </a:ext>
            </a:extLst>
          </p:cNvPr>
          <p:cNvSpPr txBox="1"/>
          <p:nvPr/>
        </p:nvSpPr>
        <p:spPr>
          <a:xfrm>
            <a:off x="381876" y="2941539"/>
            <a:ext cx="4747260" cy="1754326"/>
          </a:xfrm>
          <a:prstGeom prst="rect">
            <a:avLst/>
          </a:prstGeom>
          <a:noFill/>
        </p:spPr>
        <p:txBody>
          <a:bodyPr wrap="square" rtlCol="0">
            <a:spAutoFit/>
          </a:bodyPr>
          <a:lstStyle/>
          <a:p>
            <a:r>
              <a:rPr lang="en-US" dirty="0"/>
              <a:t>The Quadrant Analysis scatter plot, assessing technologies based on growth rate and applicant diversity, shows a varied distribution where some technologies demonstrate high applicant diversity, while others exhibit higher growth rates but lower diversity.</a:t>
            </a:r>
            <a:endParaRPr lang="en-IN" dirty="0"/>
          </a:p>
        </p:txBody>
      </p:sp>
    </p:spTree>
    <p:extLst>
      <p:ext uri="{BB962C8B-B14F-4D97-AF65-F5344CB8AC3E}">
        <p14:creationId xmlns:p14="http://schemas.microsoft.com/office/powerpoint/2010/main" val="37022129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D7E0F-B006-8116-0E72-5FE14C009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D4805D-46A5-3AC2-E47B-CAD8F95A38FE}"/>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4D277E87-446A-6D29-2494-E00A9B06D9AC}"/>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0C79FA45-8B29-3818-5455-42CA3A4973C8}"/>
              </a:ext>
            </a:extLst>
          </p:cNvPr>
          <p:cNvSpPr>
            <a:spLocks noGrp="1"/>
          </p:cNvSpPr>
          <p:nvPr>
            <p:ph type="sldNum" sz="quarter" idx="12"/>
          </p:nvPr>
        </p:nvSpPr>
        <p:spPr/>
        <p:txBody>
          <a:bodyPr/>
          <a:lstStyle/>
          <a:p>
            <a:fld id="{90EDC104-672A-4227-99C4-0E2CC007FDBA}" type="slidenum">
              <a:rPr lang="en-IN" smtClean="0"/>
              <a:t>27</a:t>
            </a:fld>
            <a:endParaRPr lang="en-IN"/>
          </a:p>
        </p:txBody>
      </p:sp>
      <p:sp>
        <p:nvSpPr>
          <p:cNvPr id="10" name="TextBox 9">
            <a:extLst>
              <a:ext uri="{FF2B5EF4-FFF2-40B4-BE49-F238E27FC236}">
                <a16:creationId xmlns:a16="http://schemas.microsoft.com/office/drawing/2014/main" id="{A3402BCD-E196-6A52-9234-FAC01BBCE0F5}"/>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Technology Emergence Analysis</a:t>
            </a:r>
          </a:p>
        </p:txBody>
      </p:sp>
      <p:pic>
        <p:nvPicPr>
          <p:cNvPr id="7" name="Picture 6">
            <a:extLst>
              <a:ext uri="{FF2B5EF4-FFF2-40B4-BE49-F238E27FC236}">
                <a16:creationId xmlns:a16="http://schemas.microsoft.com/office/drawing/2014/main" id="{8F5F32F1-1BED-F2C5-338B-7DC1362ED5FE}"/>
              </a:ext>
            </a:extLst>
          </p:cNvPr>
          <p:cNvPicPr>
            <a:picLocks noChangeAspect="1"/>
          </p:cNvPicPr>
          <p:nvPr/>
        </p:nvPicPr>
        <p:blipFill>
          <a:blip r:embed="rId2"/>
          <a:stretch>
            <a:fillRect/>
          </a:stretch>
        </p:blipFill>
        <p:spPr>
          <a:xfrm>
            <a:off x="4657969" y="1800642"/>
            <a:ext cx="7366901" cy="4465898"/>
          </a:xfrm>
          <a:prstGeom prst="rect">
            <a:avLst/>
          </a:prstGeom>
        </p:spPr>
      </p:pic>
      <p:sp>
        <p:nvSpPr>
          <p:cNvPr id="3" name="TextBox 2">
            <a:extLst>
              <a:ext uri="{FF2B5EF4-FFF2-40B4-BE49-F238E27FC236}">
                <a16:creationId xmlns:a16="http://schemas.microsoft.com/office/drawing/2014/main" id="{149A1AD0-8D5B-3B18-DB6D-239BB63C26D3}"/>
              </a:ext>
            </a:extLst>
          </p:cNvPr>
          <p:cNvSpPr txBox="1"/>
          <p:nvPr/>
        </p:nvSpPr>
        <p:spPr>
          <a:xfrm>
            <a:off x="237295" y="2848959"/>
            <a:ext cx="4312920" cy="2308324"/>
          </a:xfrm>
          <a:prstGeom prst="rect">
            <a:avLst/>
          </a:prstGeom>
          <a:noFill/>
        </p:spPr>
        <p:txBody>
          <a:bodyPr wrap="square" rtlCol="0">
            <a:spAutoFit/>
          </a:bodyPr>
          <a:lstStyle/>
          <a:p>
            <a:r>
              <a:rPr lang="en-US" dirty="0"/>
              <a:t>The table demonstrates a varied landscape where AI/ML Architecture represents a mature technology with high patent volume but lower emergence, while Perception &amp; Sensing and V2X Communication, despite lower patent counts, are identified as highly emergent and breakthrough technologies, respectively.</a:t>
            </a:r>
            <a:endParaRPr lang="en-IN" dirty="0"/>
          </a:p>
        </p:txBody>
      </p:sp>
    </p:spTree>
    <p:extLst>
      <p:ext uri="{BB962C8B-B14F-4D97-AF65-F5344CB8AC3E}">
        <p14:creationId xmlns:p14="http://schemas.microsoft.com/office/powerpoint/2010/main" val="27927725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0E9A2-1F7E-C514-B481-F3F1EAA64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BA944E-FB5E-7B28-5731-C44FD9BAFB42}"/>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CEBB23A3-876C-8A0D-6597-A06DA7240571}"/>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0880441B-3888-A34C-35D1-B6F4F80523C0}"/>
              </a:ext>
            </a:extLst>
          </p:cNvPr>
          <p:cNvSpPr>
            <a:spLocks noGrp="1"/>
          </p:cNvSpPr>
          <p:nvPr>
            <p:ph type="sldNum" sz="quarter" idx="12"/>
          </p:nvPr>
        </p:nvSpPr>
        <p:spPr/>
        <p:txBody>
          <a:bodyPr/>
          <a:lstStyle/>
          <a:p>
            <a:fld id="{90EDC104-672A-4227-99C4-0E2CC007FDBA}" type="slidenum">
              <a:rPr lang="en-IN" smtClean="0"/>
              <a:t>28</a:t>
            </a:fld>
            <a:endParaRPr lang="en-IN"/>
          </a:p>
        </p:txBody>
      </p:sp>
      <p:sp>
        <p:nvSpPr>
          <p:cNvPr id="10" name="TextBox 9">
            <a:extLst>
              <a:ext uri="{FF2B5EF4-FFF2-40B4-BE49-F238E27FC236}">
                <a16:creationId xmlns:a16="http://schemas.microsoft.com/office/drawing/2014/main" id="{80536D6E-9604-C419-F865-7B77D5EDB4D3}"/>
              </a:ext>
            </a:extLst>
          </p:cNvPr>
          <p:cNvSpPr txBox="1"/>
          <p:nvPr/>
        </p:nvSpPr>
        <p:spPr>
          <a:xfrm>
            <a:off x="695569" y="1277422"/>
            <a:ext cx="6096000" cy="523220"/>
          </a:xfrm>
          <a:prstGeom prst="rect">
            <a:avLst/>
          </a:prstGeom>
          <a:noFill/>
        </p:spPr>
        <p:txBody>
          <a:bodyPr wrap="square">
            <a:spAutoFit/>
          </a:bodyPr>
          <a:lstStyle/>
          <a:p>
            <a:pPr lvl="0">
              <a:buClr>
                <a:schemeClr val="dk1"/>
              </a:buClr>
              <a:buSzPts val="1100"/>
            </a:pPr>
            <a:r>
              <a:rPr lang="en-IN" sz="2800" b="1" dirty="0"/>
              <a:t>Innovation Outlier Detection</a:t>
            </a:r>
          </a:p>
        </p:txBody>
      </p:sp>
      <p:pic>
        <p:nvPicPr>
          <p:cNvPr id="12" name="Picture 11">
            <a:extLst>
              <a:ext uri="{FF2B5EF4-FFF2-40B4-BE49-F238E27FC236}">
                <a16:creationId xmlns:a16="http://schemas.microsoft.com/office/drawing/2014/main" id="{52DA65DE-534E-6523-53B0-629FB47D1407}"/>
              </a:ext>
            </a:extLst>
          </p:cNvPr>
          <p:cNvPicPr>
            <a:picLocks noChangeAspect="1"/>
          </p:cNvPicPr>
          <p:nvPr/>
        </p:nvPicPr>
        <p:blipFill>
          <a:blip r:embed="rId2"/>
          <a:stretch>
            <a:fillRect/>
          </a:stretch>
        </p:blipFill>
        <p:spPr>
          <a:xfrm>
            <a:off x="5570158" y="1462088"/>
            <a:ext cx="6526147" cy="4744945"/>
          </a:xfrm>
          <a:prstGeom prst="rect">
            <a:avLst/>
          </a:prstGeom>
        </p:spPr>
      </p:pic>
      <p:sp>
        <p:nvSpPr>
          <p:cNvPr id="13" name="TextBox 12">
            <a:extLst>
              <a:ext uri="{FF2B5EF4-FFF2-40B4-BE49-F238E27FC236}">
                <a16:creationId xmlns:a16="http://schemas.microsoft.com/office/drawing/2014/main" id="{70ECA87B-4FF0-76C0-5039-F2F5A1037EDB}"/>
              </a:ext>
            </a:extLst>
          </p:cNvPr>
          <p:cNvSpPr txBox="1"/>
          <p:nvPr/>
        </p:nvSpPr>
        <p:spPr>
          <a:xfrm>
            <a:off x="316199" y="2671588"/>
            <a:ext cx="5097780" cy="2031325"/>
          </a:xfrm>
          <a:prstGeom prst="rect">
            <a:avLst/>
          </a:prstGeom>
          <a:noFill/>
        </p:spPr>
        <p:txBody>
          <a:bodyPr wrap="square" rtlCol="0">
            <a:spAutoFit/>
          </a:bodyPr>
          <a:lstStyle/>
          <a:p>
            <a:r>
              <a:rPr lang="en-US" dirty="0"/>
              <a:t>The outcome highlights that out of 667 analyzed patents, AI/ML Architecture, Computer Vision, and Autonomous Vehicle Perception are key technology areas, with 2024 being the peak innovation year, and Qualcomm and Nvidia leading in volume and strategic innovation.</a:t>
            </a:r>
          </a:p>
          <a:p>
            <a:endParaRPr lang="en-IN" dirty="0"/>
          </a:p>
        </p:txBody>
      </p:sp>
    </p:spTree>
    <p:extLst>
      <p:ext uri="{BB962C8B-B14F-4D97-AF65-F5344CB8AC3E}">
        <p14:creationId xmlns:p14="http://schemas.microsoft.com/office/powerpoint/2010/main" val="34062094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D5BBC-F572-6F1F-4A6C-028A05F50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1C9A2-13E0-B26D-0D17-5F49E534A4A2}"/>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2044A6D0-3E58-BC03-B59D-744D24784DA9}"/>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3F2570DB-F0BB-2972-7573-74C315A9DB1C}"/>
              </a:ext>
            </a:extLst>
          </p:cNvPr>
          <p:cNvSpPr>
            <a:spLocks noGrp="1"/>
          </p:cNvSpPr>
          <p:nvPr>
            <p:ph type="sldNum" sz="quarter" idx="12"/>
          </p:nvPr>
        </p:nvSpPr>
        <p:spPr/>
        <p:txBody>
          <a:bodyPr/>
          <a:lstStyle/>
          <a:p>
            <a:fld id="{90EDC104-672A-4227-99C4-0E2CC007FDBA}" type="slidenum">
              <a:rPr lang="en-IN" smtClean="0"/>
              <a:t>29</a:t>
            </a:fld>
            <a:endParaRPr lang="en-IN"/>
          </a:p>
        </p:txBody>
      </p:sp>
      <p:sp>
        <p:nvSpPr>
          <p:cNvPr id="10" name="TextBox 9">
            <a:extLst>
              <a:ext uri="{FF2B5EF4-FFF2-40B4-BE49-F238E27FC236}">
                <a16:creationId xmlns:a16="http://schemas.microsoft.com/office/drawing/2014/main" id="{4960F468-F692-260A-8FAF-C2B7E273C82B}"/>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Innovation Outlier Detection</a:t>
            </a:r>
          </a:p>
        </p:txBody>
      </p:sp>
      <p:pic>
        <p:nvPicPr>
          <p:cNvPr id="9" name="Picture 8">
            <a:extLst>
              <a:ext uri="{FF2B5EF4-FFF2-40B4-BE49-F238E27FC236}">
                <a16:creationId xmlns:a16="http://schemas.microsoft.com/office/drawing/2014/main" id="{2CFD092A-EFB1-8943-251E-D2B5CFF0D4CA}"/>
              </a:ext>
            </a:extLst>
          </p:cNvPr>
          <p:cNvPicPr>
            <a:picLocks noChangeAspect="1"/>
          </p:cNvPicPr>
          <p:nvPr/>
        </p:nvPicPr>
        <p:blipFill>
          <a:blip r:embed="rId2"/>
          <a:stretch>
            <a:fillRect/>
          </a:stretch>
        </p:blipFill>
        <p:spPr>
          <a:xfrm>
            <a:off x="5087815" y="1271152"/>
            <a:ext cx="6637751" cy="4970736"/>
          </a:xfrm>
          <a:prstGeom prst="rect">
            <a:avLst/>
          </a:prstGeom>
        </p:spPr>
      </p:pic>
      <p:sp>
        <p:nvSpPr>
          <p:cNvPr id="3" name="TextBox 2">
            <a:extLst>
              <a:ext uri="{FF2B5EF4-FFF2-40B4-BE49-F238E27FC236}">
                <a16:creationId xmlns:a16="http://schemas.microsoft.com/office/drawing/2014/main" id="{DDA86096-4527-1EF0-5960-A3A6951EC15C}"/>
              </a:ext>
            </a:extLst>
          </p:cNvPr>
          <p:cNvSpPr txBox="1"/>
          <p:nvPr/>
        </p:nvSpPr>
        <p:spPr>
          <a:xfrm>
            <a:off x="325315" y="2879357"/>
            <a:ext cx="4762500" cy="1754326"/>
          </a:xfrm>
          <a:prstGeom prst="rect">
            <a:avLst/>
          </a:prstGeom>
          <a:noFill/>
        </p:spPr>
        <p:txBody>
          <a:bodyPr wrap="square" rtlCol="0">
            <a:spAutoFit/>
          </a:bodyPr>
          <a:lstStyle/>
          <a:p>
            <a:r>
              <a:rPr lang="en-IN" dirty="0"/>
              <a:t>The outcome highlights Qualcomm Inc. as a dominant innovator in video compression and wireless communication, along with significant radical contributions from Amazon Tech Inc. in computer vision for autonomous vehicles and Nvidia Corp. in circuit simulation.</a:t>
            </a:r>
          </a:p>
        </p:txBody>
      </p:sp>
    </p:spTree>
    <p:extLst>
      <p:ext uri="{BB962C8B-B14F-4D97-AF65-F5344CB8AC3E}">
        <p14:creationId xmlns:p14="http://schemas.microsoft.com/office/powerpoint/2010/main" val="17771260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D1883-DD68-72A4-AC1D-7876A5FDF9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202D5C-6D00-7225-67A5-EC0FC7ED5911}"/>
              </a:ext>
            </a:extLst>
          </p:cNvPr>
          <p:cNvSpPr>
            <a:spLocks noGrp="1"/>
          </p:cNvSpPr>
          <p:nvPr>
            <p:ph type="title"/>
          </p:nvPr>
        </p:nvSpPr>
        <p:spPr>
          <a:xfrm>
            <a:off x="455246" y="13652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B73EC12E-0B61-59AF-B287-F604E0646636}"/>
              </a:ext>
            </a:extLst>
          </p:cNvPr>
          <p:cNvSpPr>
            <a:spLocks noGrp="1"/>
          </p:cNvSpPr>
          <p:nvPr>
            <p:ph type="ftr" sz="quarter" idx="11"/>
          </p:nvPr>
        </p:nvSpPr>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5" name="Slide Number Placeholder 4">
            <a:extLst>
              <a:ext uri="{FF2B5EF4-FFF2-40B4-BE49-F238E27FC236}">
                <a16:creationId xmlns:a16="http://schemas.microsoft.com/office/drawing/2014/main" id="{0FBE8830-FE82-001E-C11E-3F064C546FB8}"/>
              </a:ext>
            </a:extLst>
          </p:cNvPr>
          <p:cNvSpPr>
            <a:spLocks noGrp="1"/>
          </p:cNvSpPr>
          <p:nvPr>
            <p:ph type="sldNum" sz="quarter" idx="12"/>
          </p:nvPr>
        </p:nvSpPr>
        <p:spPr/>
        <p:txBody>
          <a:bodyPr/>
          <a:lstStyle/>
          <a:p>
            <a:fld id="{90EDC104-672A-4227-99C4-0E2CC007FDBA}" type="slidenum">
              <a:rPr lang="en-IN" smtClean="0"/>
              <a:t>30</a:t>
            </a:fld>
            <a:endParaRPr lang="en-IN"/>
          </a:p>
        </p:txBody>
      </p:sp>
      <p:sp>
        <p:nvSpPr>
          <p:cNvPr id="10" name="TextBox 9">
            <a:extLst>
              <a:ext uri="{FF2B5EF4-FFF2-40B4-BE49-F238E27FC236}">
                <a16:creationId xmlns:a16="http://schemas.microsoft.com/office/drawing/2014/main" id="{CF769F6B-FBBE-2B32-6E7E-96309DA1342B}"/>
              </a:ext>
            </a:extLst>
          </p:cNvPr>
          <p:cNvSpPr txBox="1"/>
          <p:nvPr/>
        </p:nvSpPr>
        <p:spPr>
          <a:xfrm>
            <a:off x="695569" y="1277422"/>
            <a:ext cx="6096000" cy="523220"/>
          </a:xfrm>
          <a:prstGeom prst="rect">
            <a:avLst/>
          </a:prstGeom>
          <a:noFill/>
        </p:spPr>
        <p:txBody>
          <a:bodyPr wrap="square">
            <a:spAutoFit/>
          </a:bodyPr>
          <a:lstStyle/>
          <a:p>
            <a:pPr marL="0" lvl="0" indent="0">
              <a:buClr>
                <a:schemeClr val="dk1"/>
              </a:buClr>
              <a:buSzPts val="1100"/>
              <a:buNone/>
            </a:pPr>
            <a:r>
              <a:rPr lang="en-IN" sz="2800" b="1" dirty="0"/>
              <a:t>Innovation Outlier Detection</a:t>
            </a:r>
          </a:p>
        </p:txBody>
      </p:sp>
      <p:pic>
        <p:nvPicPr>
          <p:cNvPr id="6" name="Picture 5">
            <a:extLst>
              <a:ext uri="{FF2B5EF4-FFF2-40B4-BE49-F238E27FC236}">
                <a16:creationId xmlns:a16="http://schemas.microsoft.com/office/drawing/2014/main" id="{7A9005FB-AA53-D69C-E7F3-39B842777BFC}"/>
              </a:ext>
            </a:extLst>
          </p:cNvPr>
          <p:cNvPicPr>
            <a:picLocks noChangeAspect="1"/>
          </p:cNvPicPr>
          <p:nvPr/>
        </p:nvPicPr>
        <p:blipFill>
          <a:blip r:embed="rId2"/>
          <a:stretch>
            <a:fillRect/>
          </a:stretch>
        </p:blipFill>
        <p:spPr>
          <a:xfrm>
            <a:off x="5584896" y="1277422"/>
            <a:ext cx="5830346" cy="4904154"/>
          </a:xfrm>
          <a:prstGeom prst="rect">
            <a:avLst/>
          </a:prstGeom>
        </p:spPr>
      </p:pic>
      <p:sp>
        <p:nvSpPr>
          <p:cNvPr id="7" name="TextBox 6">
            <a:extLst>
              <a:ext uri="{FF2B5EF4-FFF2-40B4-BE49-F238E27FC236}">
                <a16:creationId xmlns:a16="http://schemas.microsoft.com/office/drawing/2014/main" id="{6FFEF7D6-E4B9-CA27-F934-EE74798BDD3B}"/>
              </a:ext>
            </a:extLst>
          </p:cNvPr>
          <p:cNvSpPr txBox="1"/>
          <p:nvPr/>
        </p:nvSpPr>
        <p:spPr>
          <a:xfrm>
            <a:off x="296898" y="2862779"/>
            <a:ext cx="5158740" cy="1754326"/>
          </a:xfrm>
          <a:prstGeom prst="rect">
            <a:avLst/>
          </a:prstGeom>
          <a:noFill/>
        </p:spPr>
        <p:txBody>
          <a:bodyPr wrap="square" rtlCol="0">
            <a:spAutoFit/>
          </a:bodyPr>
          <a:lstStyle/>
          <a:p>
            <a:r>
              <a:rPr lang="en-US" dirty="0"/>
              <a:t>The outcome highlights Nvidia Corp. and Intel Corp. as the top patenting entities by volume, while significant increases in strategic pivots are observed for Apple Inc., Google LLC, and Amazon Tech, reflecting their evolving technological focuses.</a:t>
            </a:r>
          </a:p>
          <a:p>
            <a:endParaRPr lang="en-IN" dirty="0"/>
          </a:p>
        </p:txBody>
      </p:sp>
    </p:spTree>
    <p:extLst>
      <p:ext uri="{BB962C8B-B14F-4D97-AF65-F5344CB8AC3E}">
        <p14:creationId xmlns:p14="http://schemas.microsoft.com/office/powerpoint/2010/main" val="37684778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Conclusion</a:t>
            </a:r>
            <a:endParaRPr lang="en-IN" b="1" dirty="0">
              <a:latin typeface="Arial Narrow" panose="020B0606020202030204" pitchFamily="34" charset="0"/>
            </a:endParaRPr>
          </a:p>
        </p:txBody>
      </p:sp>
      <p:sp>
        <p:nvSpPr>
          <p:cNvPr id="3" name="Content Placeholder 2"/>
          <p:cNvSpPr>
            <a:spLocks noGrp="1"/>
          </p:cNvSpPr>
          <p:nvPr>
            <p:ph idx="1"/>
          </p:nvPr>
        </p:nvSpPr>
        <p:spPr/>
        <p:txBody>
          <a:bodyPr>
            <a:normAutofit fontScale="92500" lnSpcReduction="10000"/>
          </a:bodyPr>
          <a:lstStyle/>
          <a:p>
            <a:pPr marL="0" indent="0">
              <a:buNone/>
            </a:pPr>
            <a:r>
              <a:rPr lang="en-US" dirty="0"/>
              <a:t>I successfully analyzed 667 patents from the US autonomous vehicle industry and extracted both broad trends and nuanced insights. Through semantic clustering, I uncovered distinct technological focus areas and identified which companies were leading development within each cluster. Innovation trend analysis helped reveal statistically significant rising and declining technologies, enhanced further through domain-specific curation. By leveraging LLMs, I transformed unstructured patent text into structured formats, enabling a detailed technology emergence analysis. Finally, my outlier detection pipeline highlighted radically innovative patents and strategic pivots by major players. Altogether, this project demonstrated how NLP and machine learning can unlock deep, actionable intelligence from large-scale patent data.</a:t>
            </a:r>
          </a:p>
          <a:p>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31</a:t>
            </a:fld>
            <a:endParaRPr lang="en-IN"/>
          </a:p>
        </p:txBody>
      </p:sp>
    </p:spTree>
    <p:extLst>
      <p:ext uri="{BB962C8B-B14F-4D97-AF65-F5344CB8AC3E}">
        <p14:creationId xmlns:p14="http://schemas.microsoft.com/office/powerpoint/2010/main" val="597937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Future Enhancement</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r>
              <a:rPr lang="en-US" dirty="0"/>
              <a:t>Enhance result quality by refining methodologies to reduce noise and improve accuracy in trend and outlier detection.</a:t>
            </a:r>
          </a:p>
          <a:p>
            <a:r>
              <a:rPr lang="en-US" dirty="0"/>
              <a:t>Develop a more structured and automated pipeline to streamline data handling, analysis, and visualization workflows.</a:t>
            </a:r>
          </a:p>
          <a:p>
            <a:r>
              <a:rPr lang="en-US" dirty="0"/>
              <a:t>Implement deeper predictive modeling techniques to strengthen technology emergence analysis and provide more forward-looking insights.</a:t>
            </a:r>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32</a:t>
            </a:fld>
            <a:endParaRPr lang="en-IN"/>
          </a:p>
        </p:txBody>
      </p:sp>
    </p:spTree>
    <p:extLst>
      <p:ext uri="{BB962C8B-B14F-4D97-AF65-F5344CB8AC3E}">
        <p14:creationId xmlns:p14="http://schemas.microsoft.com/office/powerpoint/2010/main" val="18105269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References : APA format</a:t>
            </a:r>
            <a:endParaRPr lang="en-IN" b="1" dirty="0">
              <a:latin typeface="Arial Narrow" panose="020B0606020202030204" pitchFamily="34" charset="0"/>
            </a:endParaRPr>
          </a:p>
        </p:txBody>
      </p:sp>
      <p:sp>
        <p:nvSpPr>
          <p:cNvPr id="3" name="Content Placeholder 2"/>
          <p:cNvSpPr>
            <a:spLocks noGrp="1"/>
          </p:cNvSpPr>
          <p:nvPr>
            <p:ph idx="1"/>
          </p:nvPr>
        </p:nvSpPr>
        <p:spPr>
          <a:xfrm>
            <a:off x="838200" y="1518699"/>
            <a:ext cx="10515600" cy="4658264"/>
          </a:xfrm>
        </p:spPr>
        <p:txBody>
          <a:bodyPr>
            <a:normAutofit fontScale="77500" lnSpcReduction="20000"/>
          </a:bodyPr>
          <a:lstStyle/>
          <a:p>
            <a:r>
              <a:rPr lang="en-US" sz="2000" b="1" dirty="0">
                <a:latin typeface="Arial Narrow" panose="020B0606020202030204" pitchFamily="34" charset="0"/>
              </a:rPr>
              <a:t>Base Paper:</a:t>
            </a:r>
          </a:p>
          <a:p>
            <a:pPr lvl="1"/>
            <a:r>
              <a:rPr lang="en-US" sz="2100" dirty="0"/>
              <a:t>Trappey, A. J. C., Trappey, C. V., Wu, J.-L., &amp; Wang, J. W. C. (2020). Intelligent compilation of patent summaries using machine learning and natural language processing techniques. </a:t>
            </a:r>
            <a:r>
              <a:rPr lang="en-US" sz="2100" i="1" dirty="0"/>
              <a:t>Advanced Engineering Informatics, 43</a:t>
            </a:r>
            <a:r>
              <a:rPr lang="en-US" sz="2100" dirty="0"/>
              <a:t>, 101027. </a:t>
            </a:r>
            <a:r>
              <a:rPr lang="en-US" sz="2100" dirty="0">
                <a:hlinkClick r:id="rId2"/>
              </a:rPr>
              <a:t>https://doi.org/10.1016/j.aei.2019.101027</a:t>
            </a:r>
            <a:endParaRPr lang="en-US" sz="2100" dirty="0"/>
          </a:p>
          <a:p>
            <a:pPr lvl="1"/>
            <a:r>
              <a:rPr lang="en-IN" sz="2100" dirty="0">
                <a:hlinkClick r:id="rId3"/>
              </a:rPr>
              <a:t>Link to Paper</a:t>
            </a:r>
            <a:endParaRPr lang="en-US" sz="2100" b="1" dirty="0">
              <a:latin typeface="Arial Narrow" panose="020B0606020202030204" pitchFamily="34" charset="0"/>
            </a:endParaRPr>
          </a:p>
          <a:p>
            <a:r>
              <a:rPr lang="en-IN" sz="2000" b="1" dirty="0">
                <a:latin typeface="Arial Narrow" panose="020B0606020202030204" pitchFamily="34" charset="0"/>
              </a:rPr>
              <a:t>Paper I:</a:t>
            </a:r>
          </a:p>
          <a:p>
            <a:pPr lvl="1"/>
            <a:r>
              <a:rPr lang="en-US" sz="2100" dirty="0"/>
              <a:t>Cho, R. L. T., Liu, J. S., &amp; Ho, M. H. C. (2021). The development of autonomous driving technology: perspectives from patent citation analysis. </a:t>
            </a:r>
            <a:r>
              <a:rPr lang="en-US" sz="2100" i="1" dirty="0"/>
              <a:t>Transport Reviews</a:t>
            </a:r>
            <a:r>
              <a:rPr lang="en-US" sz="2100" dirty="0"/>
              <a:t>, </a:t>
            </a:r>
            <a:r>
              <a:rPr lang="en-US" sz="2100" i="1" dirty="0"/>
              <a:t>41</a:t>
            </a:r>
            <a:r>
              <a:rPr lang="en-US" sz="2100" dirty="0"/>
              <a:t>(5), 685–711. </a:t>
            </a:r>
            <a:r>
              <a:rPr lang="en-US" sz="2100" dirty="0">
                <a:hlinkClick r:id="rId4"/>
              </a:rPr>
              <a:t>https://doi.org/10.1080/01441647.2021.1879310</a:t>
            </a:r>
            <a:endParaRPr lang="en-IN" sz="2100" b="1" dirty="0">
              <a:latin typeface="Arial Narrow" panose="020B0606020202030204" pitchFamily="34" charset="0"/>
            </a:endParaRPr>
          </a:p>
          <a:p>
            <a:pPr lvl="1"/>
            <a:r>
              <a:rPr lang="en-IN" sz="2100" dirty="0">
                <a:hlinkClick r:id="rId5"/>
              </a:rPr>
              <a:t>Link to Paper</a:t>
            </a:r>
            <a:endParaRPr lang="en-IN" sz="2100" dirty="0"/>
          </a:p>
          <a:p>
            <a:r>
              <a:rPr lang="en-IN" sz="2000" b="1" dirty="0">
                <a:latin typeface="Arial Narrow" panose="020B0606020202030204" pitchFamily="34" charset="0"/>
              </a:rPr>
              <a:t>Paper II:</a:t>
            </a:r>
          </a:p>
          <a:p>
            <a:pPr lvl="1"/>
            <a:r>
              <a:rPr lang="en-US" sz="2000" dirty="0"/>
              <a:t>Kim, G., &amp; Bae, J. (2017). A novel approach to forecast promising technology through patent analysis. </a:t>
            </a:r>
            <a:r>
              <a:rPr lang="en-US" sz="2000" i="1" dirty="0"/>
              <a:t>Technological Forecasting and Social Change, 117</a:t>
            </a:r>
            <a:r>
              <a:rPr lang="en-US" sz="2000" dirty="0"/>
              <a:t>, 228–237. </a:t>
            </a:r>
            <a:r>
              <a:rPr lang="en-US" sz="2000" dirty="0">
                <a:hlinkClick r:id="rId6"/>
              </a:rPr>
              <a:t>https://doi.org/10.1016/j.techfore.2016.11.023</a:t>
            </a:r>
            <a:endParaRPr lang="en-US" sz="2000" dirty="0"/>
          </a:p>
          <a:p>
            <a:pPr lvl="1"/>
            <a:r>
              <a:rPr lang="en-US" sz="2300" dirty="0">
                <a:solidFill>
                  <a:srgbClr val="000000"/>
                </a:solidFill>
                <a:hlinkClick r:id="rId7"/>
              </a:rPr>
              <a:t>Link to Paper</a:t>
            </a:r>
            <a:endParaRPr lang="en-IN" sz="2300" u="sng" dirty="0">
              <a:solidFill>
                <a:srgbClr val="1155CC"/>
              </a:solidFill>
            </a:endParaRPr>
          </a:p>
          <a:p>
            <a:r>
              <a:rPr lang="en-IN" sz="2000" b="1" dirty="0">
                <a:latin typeface="Arial Narrow" panose="020B0606020202030204" pitchFamily="34" charset="0"/>
              </a:rPr>
              <a:t>Paper III:</a:t>
            </a:r>
          </a:p>
          <a:p>
            <a:pPr lvl="1"/>
            <a:r>
              <a:rPr lang="en-IN" sz="2000" dirty="0"/>
              <a:t>Lattimer, B., Chen, P. H., Zhang, X., &amp; Yang, Y. (2023). Fast and accurate factual inconsistency detection over long documents. In H. </a:t>
            </a:r>
            <a:r>
              <a:rPr lang="en-IN" sz="2000" dirty="0" err="1"/>
              <a:t>Bouamor</a:t>
            </a:r>
            <a:r>
              <a:rPr lang="en-IN" sz="2000" dirty="0"/>
              <a:t>, J. Pino, &amp; K. Bali (Eds.), </a:t>
            </a:r>
            <a:r>
              <a:rPr lang="en-IN" sz="2000" i="1" dirty="0"/>
              <a:t>Proceedings of the 2023 Conference on Empirical Methods in Natural Language Processing</a:t>
            </a:r>
            <a:r>
              <a:rPr lang="en-IN" sz="2000" dirty="0"/>
              <a:t> (pp. 1691-1703). Association for Computational Linguistics. </a:t>
            </a:r>
            <a:r>
              <a:rPr lang="en-IN" sz="2000" dirty="0">
                <a:hlinkClick r:id="rId8"/>
              </a:rPr>
              <a:t>https://doi.org/10.18653/v1/2023.emnlp-main.105</a:t>
            </a:r>
            <a:endParaRPr lang="en-IN" sz="2000" dirty="0"/>
          </a:p>
          <a:p>
            <a:pPr lvl="1"/>
            <a:r>
              <a:rPr lang="en-US" sz="2300" dirty="0">
                <a:solidFill>
                  <a:srgbClr val="000000"/>
                </a:solidFill>
                <a:hlinkClick r:id="rId9"/>
              </a:rPr>
              <a:t>Link to Paper</a:t>
            </a:r>
            <a:endParaRPr lang="en-IN" sz="2300" b="1" dirty="0"/>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33</a:t>
            </a:fld>
            <a:endParaRPr lang="en-IN"/>
          </a:p>
        </p:txBody>
      </p:sp>
    </p:spTree>
    <p:extLst>
      <p:ext uri="{BB962C8B-B14F-4D97-AF65-F5344CB8AC3E}">
        <p14:creationId xmlns:p14="http://schemas.microsoft.com/office/powerpoint/2010/main" val="3134518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1656</TotalTime>
  <Words>2666</Words>
  <Application>Microsoft Office PowerPoint</Application>
  <PresentationFormat>Widescreen</PresentationFormat>
  <Paragraphs>222</Paragraphs>
  <Slides>33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Arial Narrow</vt:lpstr>
      <vt:lpstr>Calibri</vt:lpstr>
      <vt:lpstr>Calibri Light</vt:lpstr>
      <vt:lpstr>Mongolian Baiti</vt:lpstr>
      <vt:lpstr>Office Theme</vt:lpstr>
      <vt:lpstr>Analyzing Technological Trends in Autonomous Vehicles through Patent Text Mining and Predictive Modeling   </vt:lpstr>
      <vt:lpstr>Abstract</vt:lpstr>
      <vt:lpstr>Introduction</vt:lpstr>
      <vt:lpstr>Need of study</vt:lpstr>
      <vt:lpstr>Problem Statement</vt:lpstr>
      <vt:lpstr>Objectives</vt:lpstr>
      <vt:lpstr>Related Work</vt:lpstr>
      <vt:lpstr>Proposed Methodology</vt:lpstr>
      <vt:lpstr>Proposed Methodology [ Max. 3 Slides ]</vt:lpstr>
      <vt:lpstr>Proposed Methodology [ Max. 3 Slides ]</vt:lpstr>
      <vt:lpstr>Dataset</vt:lpstr>
      <vt:lpstr>Results and Discussion</vt:lpstr>
      <vt:lpstr>Results and Discussion</vt:lpstr>
      <vt:lpstr>Results and Discussion</vt:lpstr>
      <vt:lpstr>Results and Discussion</vt:lpstr>
      <vt:lpstr>Results and Discussion</vt:lpstr>
      <vt:lpstr>Results and Discussion</vt:lpstr>
      <vt:lpstr>Results and Discussion</vt:lpstr>
      <vt:lpstr>Results and Discussion</vt:lpstr>
      <vt:lpstr>Results and Discussion</vt:lpstr>
      <vt:lpstr>Results and Discussion</vt:lpstr>
      <vt:lpstr>Results and Discussion</vt:lpstr>
      <vt:lpstr>Results and Discussion</vt:lpstr>
      <vt:lpstr>Results and Discussion</vt:lpstr>
      <vt:lpstr>Results and Discussion</vt:lpstr>
      <vt:lpstr>Results and Discussion</vt:lpstr>
      <vt:lpstr>Results and Discussion</vt:lpstr>
      <vt:lpstr>Results and Discussion</vt:lpstr>
      <vt:lpstr>Results and Discussion</vt:lpstr>
      <vt:lpstr>Results and Discussion</vt:lpstr>
      <vt:lpstr>Conclusion</vt:lpstr>
      <vt:lpstr>Future Enhancement</vt:lpstr>
      <vt:lpstr>References : APA format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Domain:</dc:title>
  <dc:creator>Angay</dc:creator>
  <cp:lastModifiedBy>Aniket Shinde</cp:lastModifiedBy>
  <cp:revision>18</cp:revision>
  <dcterms:created xsi:type="dcterms:W3CDTF">2023-11-15T14:09:37Z</dcterms:created>
  <dcterms:modified xsi:type="dcterms:W3CDTF">2025-06-18T12:00:00Z</dcterms:modified>
</cp:coreProperties>
</file>