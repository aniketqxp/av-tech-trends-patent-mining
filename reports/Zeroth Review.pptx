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8B41CC-6075-4FE4-9FF3-D2DD3E5C3D77}" type="datetime1">
              <a:rPr lang="en-IN" smtClean="0"/>
              <a:t>12-06-2025</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06891F-7347-4431-97AD-C01C892A47C1}" type="datetime1">
              <a:rPr lang="en-IN" smtClean="0"/>
              <a:t>12-06-2025</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E399DAC-F3BF-4AE7-BE2E-9341E5DDBCD3}" type="datetime1">
              <a:rPr lang="en-IN" smtClean="0"/>
              <a:t>12-06-2025</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55E4086-DDDF-4A3E-B65E-529ECDF388F6}" type="datetime1">
              <a:rPr lang="en-IN" smtClean="0"/>
              <a:t>12-06-2025</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33513FC-6062-41F3-9506-42D77E50035C}" type="datetime1">
              <a:rPr lang="en-IN" smtClean="0"/>
              <a:t>12-06-2025</a:t>
            </a:fld>
            <a:endParaRPr lang="en-IN"/>
          </a:p>
        </p:txBody>
      </p:sp>
      <p:sp>
        <p:nvSpPr>
          <p:cNvPr id="8" name="Footer Placeholder 7"/>
          <p:cNvSpPr>
            <a:spLocks noGrp="1"/>
          </p:cNvSpPr>
          <p:nvPr>
            <p:ph type="ftr" sz="quarter" idx="11"/>
          </p:nvPr>
        </p:nvSpPr>
        <p:spPr/>
        <p:txBody>
          <a:bodyPr/>
          <a:lstStyle/>
          <a:p>
            <a:r>
              <a:rPr lang="en-IN"/>
              <a:t>CS7610  CAPSTONE PROJECT  ,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5102EA7-AD0C-46EE-A861-FB9E38FE8195}" type="datetime1">
              <a:rPr lang="en-IN" smtClean="0"/>
              <a:t>12-06-2025</a:t>
            </a:fld>
            <a:endParaRPr lang="en-IN"/>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2B88AD-DB7D-43DC-886B-B7C39580BEA8}" type="datetime1">
              <a:rPr lang="en-IN" smtClean="0"/>
              <a:t>12-06-2025</a:t>
            </a:fld>
            <a:endParaRPr lang="en-IN"/>
          </a:p>
        </p:txBody>
      </p:sp>
      <p:sp>
        <p:nvSpPr>
          <p:cNvPr id="3" name="Footer Placeholder 2"/>
          <p:cNvSpPr>
            <a:spLocks noGrp="1"/>
          </p:cNvSpPr>
          <p:nvPr>
            <p:ph type="ftr" sz="quarter" idx="11"/>
          </p:nvPr>
        </p:nvSpPr>
        <p:spPr/>
        <p:txBody>
          <a:bodyPr/>
          <a:lstStyle/>
          <a:p>
            <a:r>
              <a:rPr lang="en-IN"/>
              <a:t>CS7610  CAPSTONE PROJECT  ,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A412B5-2974-490E-B565-58B5859EF588}" type="datetime1">
              <a:rPr lang="en-IN" smtClean="0"/>
              <a:t>12-06-2025</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9C2650B-1ACB-4813-963B-953911775E15}" type="datetime1">
              <a:rPr lang="en-IN" smtClean="0"/>
              <a:t>12-06-2025</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57F005-2524-41A9-A300-13C496052CAD}" type="datetime1">
              <a:rPr lang="en-IN" smtClean="0"/>
              <a:t>12-06-2025</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B4B75A-49B6-4E0B-8D7F-CE8D920BEAFD}" type="datetime1">
              <a:rPr lang="en-IN" smtClean="0"/>
              <a:t>12-06-2025</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052CB-3723-48DF-99C9-7A3B497FDA91}" type="datetime1">
              <a:rPr lang="en-IN" smtClean="0"/>
              <a:t>12-06-2025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CS7610  CAPSTONE PROJECT  ,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lens.or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doi.org/10.18653/v1/2023.emnlp-main.105" TargetMode="External"/><Relationship Id="rId3" Type="http://schemas.openxmlformats.org/officeDocument/2006/relationships/hyperlink" Target="https://www.sciencedirect.com/science/article/pii/S1474034619306007" TargetMode="External"/><Relationship Id="rId7" Type="http://schemas.openxmlformats.org/officeDocument/2006/relationships/hyperlink" Target="https://www.sciencedirect.com/science/article/pii/S0040162516307661" TargetMode="External"/><Relationship Id="rId2" Type="http://schemas.openxmlformats.org/officeDocument/2006/relationships/hyperlink" Target="https://doi.org/10.1016/j.aei.2019.101027" TargetMode="External"/><Relationship Id="rId1" Type="http://schemas.openxmlformats.org/officeDocument/2006/relationships/slideLayout" Target="../slideLayouts/slideLayout2.xml"/><Relationship Id="rId6" Type="http://schemas.openxmlformats.org/officeDocument/2006/relationships/hyperlink" Target="https://doi.org/10.1016/j.techfore.2016.11.023" TargetMode="External"/><Relationship Id="rId5" Type="http://schemas.openxmlformats.org/officeDocument/2006/relationships/hyperlink" Target="https://www.tandfonline.com/doi/full/10.1080/01441647.2021.1879310" TargetMode="External"/><Relationship Id="rId4" Type="http://schemas.openxmlformats.org/officeDocument/2006/relationships/hyperlink" Target="https://doi.org/10.1080/01441647.2021.1879310" TargetMode="External"/><Relationship Id="rId9" Type="http://schemas.openxmlformats.org/officeDocument/2006/relationships/hyperlink" Target="https://arxiv.org/abs/2310.1318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3873" y="1068767"/>
            <a:ext cx="10804161" cy="4124194"/>
          </a:xfrm>
        </p:spPr>
        <p:txBody>
          <a:bodyPr>
            <a:normAutofit/>
          </a:bodyPr>
          <a:lstStyle/>
          <a:p>
            <a:r>
              <a:rPr lang="en-US" sz="4000" dirty="0">
                <a:latin typeface="Arial Narrow" panose="020B0606020202030204" pitchFamily="34" charset="0"/>
              </a:rPr>
              <a:t>Analyzing Technological Trends in Autonomous Vehicles through Patent Text Mining and Predictive Modeling</a:t>
            </a:r>
            <a:br>
              <a:rPr lang="en-US" sz="4000" dirty="0">
                <a:latin typeface="Arial Narrow" panose="020B0606020202030204" pitchFamily="34" charset="0"/>
              </a:rPr>
            </a:br>
            <a:br>
              <a:rPr lang="en-US" sz="5400" dirty="0">
                <a:latin typeface="Arial Narrow" panose="020B0606020202030204" pitchFamily="34" charset="0"/>
              </a:rPr>
            </a:br>
            <a:r>
              <a:rPr lang="en-US" sz="5400" dirty="0">
                <a:latin typeface="Arial Narrow" panose="020B0606020202030204" pitchFamily="34" charset="0"/>
              </a:rPr>
              <a:t> </a:t>
            </a:r>
            <a:endParaRPr lang="en-IN" sz="5400"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06/06/2025</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Zeroth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t>CS7610</a:t>
            </a:r>
            <a:endParaRPr lang="en-US" dirty="0">
              <a:latin typeface="Arial Narrow" panose="020B0606020202030204" pitchFamily="34" charset="0"/>
            </a:endParaRPr>
          </a:p>
          <a:p>
            <a:r>
              <a:rPr lang="en-US" b="1" dirty="0">
                <a:latin typeface="Arial Narrow" panose="020B0606020202030204" pitchFamily="34" charset="0"/>
              </a:rPr>
              <a:t>Course Title: </a:t>
            </a:r>
            <a:r>
              <a:rPr lang="en-US" dirty="0"/>
              <a:t>Capstone Project</a:t>
            </a:r>
          </a:p>
          <a:p>
            <a:r>
              <a:rPr lang="en-US" b="1" dirty="0">
                <a:latin typeface="Arial Narrow" panose="020B0606020202030204" pitchFamily="34" charset="0"/>
              </a:rPr>
              <a:t>Guide Name: </a:t>
            </a:r>
            <a:r>
              <a:rPr lang="en-IN" dirty="0"/>
              <a:t>Prof. Ramya </a:t>
            </a:r>
            <a:r>
              <a:rPr lang="en-IN" dirty="0" err="1"/>
              <a:t>Mohanakrishnan</a:t>
            </a:r>
            <a:endParaRPr lang="en-IN" b="1" dirty="0">
              <a:latin typeface="Arial Narrow" panose="020B0606020202030204" pitchFamily="34" charset="0"/>
            </a:endParaRPr>
          </a:p>
        </p:txBody>
      </p:sp>
      <p:sp>
        <p:nvSpPr>
          <p:cNvPr id="7" name="Footer Placeholder 6"/>
          <p:cNvSpPr>
            <a:spLocks noGrp="1"/>
          </p:cNvSpPr>
          <p:nvPr>
            <p:ph type="ftr" sz="quarter" idx="11"/>
          </p:nvPr>
        </p:nvSpPr>
        <p:spPr>
          <a:xfrm>
            <a:off x="3277292" y="6356350"/>
            <a:ext cx="5637415" cy="325384"/>
          </a:xfrm>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
        <p:nvSpPr>
          <p:cNvPr id="9" name="TextBox 8">
            <a:extLst>
              <a:ext uri="{FF2B5EF4-FFF2-40B4-BE49-F238E27FC236}">
                <a16:creationId xmlns:a16="http://schemas.microsoft.com/office/drawing/2014/main" id="{32251324-BBEA-0D84-CC7C-7BF1608186DF}"/>
              </a:ext>
            </a:extLst>
          </p:cNvPr>
          <p:cNvSpPr txBox="1"/>
          <p:nvPr/>
        </p:nvSpPr>
        <p:spPr>
          <a:xfrm>
            <a:off x="3579060" y="3742710"/>
            <a:ext cx="5173786" cy="646331"/>
          </a:xfrm>
          <a:prstGeom prst="rect">
            <a:avLst/>
          </a:prstGeom>
          <a:noFill/>
        </p:spPr>
        <p:txBody>
          <a:bodyPr wrap="square" rtlCol="0">
            <a:spAutoFit/>
          </a:bodyPr>
          <a:lstStyle/>
          <a:p>
            <a:r>
              <a:rPr lang="en-US" sz="3600" dirty="0">
                <a:solidFill>
                  <a:schemeClr val="tx1">
                    <a:lumMod val="65000"/>
                    <a:lumOff val="35000"/>
                  </a:schemeClr>
                </a:solidFill>
                <a:latin typeface="Arial Narrow" panose="020B0606020202030204" pitchFamily="34" charset="0"/>
              </a:rPr>
              <a:t>Natural Language Processing</a:t>
            </a:r>
            <a:endParaRPr lang="en-IN" sz="3600"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State University of New York at Binghamton</a:t>
            </a:r>
          </a:p>
          <a:p>
            <a:r>
              <a:rPr lang="en-US" dirty="0"/>
              <a:t>Master of Science in Computer Science</a:t>
            </a:r>
          </a:p>
          <a:p>
            <a:r>
              <a:rPr lang="en-US" dirty="0"/>
              <a:t>Dr. Patrick H. Chen</a:t>
            </a:r>
          </a:p>
          <a:p>
            <a:r>
              <a:rPr lang="en-US" dirty="0"/>
              <a:t>Natural Language Processing</a:t>
            </a: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404286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lnSpcReduction="10000"/>
          </a:bodyPr>
          <a:lstStyle/>
          <a:p>
            <a:pPr marL="0" indent="0">
              <a:buNone/>
            </a:pPr>
            <a:r>
              <a:rPr lang="en-US" dirty="0"/>
              <a:t>Patents are a valuable source of early-stage technological insights, offering structured disclosures of innovation across industries. In the rapidly evolving autonomous vehicle (AV) domain, analyzing patent text can reveal emerging trends, key technologies, and innovation gaps. This project applies Natural Language Processing (NLP) to extract structured knowledge from AV-related patents. By identifying key terms and relationships, we build semantic representations of each document. These are then used in machine learning techniques such as clustering and dimensionality reduction to uncover hidden patterns and technology clusters. The goal is to demonstrate how AI-driven patent analysis can support trend forecasting and strategic R&amp;D planning in the AV space.</a:t>
            </a:r>
          </a:p>
          <a:p>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898404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latin typeface="Arial Narrow" panose="020B0606020202030204" pitchFamily="34" charset="0"/>
              </a:rPr>
              <a:t>Source of the Dataset: </a:t>
            </a:r>
            <a:r>
              <a:rPr lang="en-US" dirty="0">
                <a:latin typeface="Arial Narrow" panose="020B0606020202030204" pitchFamily="34" charset="0"/>
                <a:hlinkClick r:id="rId2"/>
              </a:rPr>
              <a:t>lens.org</a:t>
            </a:r>
            <a:endParaRPr lang="en-US" dirty="0">
              <a:latin typeface="Arial Narrow" panose="020B0606020202030204" pitchFamily="34" charset="0"/>
            </a:endParaRPr>
          </a:p>
          <a:p>
            <a:r>
              <a:rPr lang="en-US" dirty="0">
                <a:latin typeface="Arial Narrow" panose="020B0606020202030204" pitchFamily="34" charset="0"/>
              </a:rPr>
              <a:t>No. of Observations: 667 full text files</a:t>
            </a:r>
          </a:p>
          <a:p>
            <a:r>
              <a:rPr lang="en-US" dirty="0">
                <a:latin typeface="Arial Narrow" panose="020B0606020202030204" pitchFamily="34" charset="0"/>
              </a:rPr>
              <a:t>Column/Feature Details: Title, Abstract, Claims, Application Date, Publication Date, Applicants, CPC Codes</a:t>
            </a:r>
          </a:p>
          <a:p>
            <a:r>
              <a:rPr lang="en-US" dirty="0">
                <a:latin typeface="Arial Narrow" panose="020B0606020202030204" pitchFamily="34" charset="0"/>
              </a:rPr>
              <a:t>Screenshot of the dataset: </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pic>
        <p:nvPicPr>
          <p:cNvPr id="9" name="Picture 8">
            <a:extLst>
              <a:ext uri="{FF2B5EF4-FFF2-40B4-BE49-F238E27FC236}">
                <a16:creationId xmlns:a16="http://schemas.microsoft.com/office/drawing/2014/main" id="{C95B32C6-B2D0-2F8E-1753-54F48E5C9EE4}"/>
              </a:ext>
            </a:extLst>
          </p:cNvPr>
          <p:cNvPicPr>
            <a:picLocks noChangeAspect="1"/>
          </p:cNvPicPr>
          <p:nvPr/>
        </p:nvPicPr>
        <p:blipFill>
          <a:blip r:embed="rId3"/>
          <a:stretch>
            <a:fillRect/>
          </a:stretch>
        </p:blipFill>
        <p:spPr>
          <a:xfrm>
            <a:off x="4743938" y="3722697"/>
            <a:ext cx="7110125" cy="2589203"/>
          </a:xfrm>
          <a:prstGeom prst="rect">
            <a:avLst/>
          </a:prstGeom>
        </p:spPr>
      </p:pic>
    </p:spTree>
    <p:extLst>
      <p:ext uri="{BB962C8B-B14F-4D97-AF65-F5344CB8AC3E}">
        <p14:creationId xmlns:p14="http://schemas.microsoft.com/office/powerpoint/2010/main" val="2913472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Review of Related Literature</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518699"/>
            <a:ext cx="10515600" cy="4658264"/>
          </a:xfrm>
        </p:spPr>
        <p:txBody>
          <a:bodyPr>
            <a:normAutofit fontScale="77500" lnSpcReduction="20000"/>
          </a:bodyPr>
          <a:lstStyle/>
          <a:p>
            <a:r>
              <a:rPr lang="en-US" sz="2000" b="1" dirty="0">
                <a:latin typeface="Arial Narrow" panose="020B0606020202030204" pitchFamily="34" charset="0"/>
              </a:rPr>
              <a:t>Base Paper:</a:t>
            </a:r>
          </a:p>
          <a:p>
            <a:pPr lvl="1"/>
            <a:r>
              <a:rPr lang="en-US" sz="2100" dirty="0"/>
              <a:t>Trappey, A. J. C., Trappey, C. V., Wu, J.-L., &amp; Wang, J. W. C. (2020). Intelligent compilation of patent summaries using machine learning and natural language processing techniques. </a:t>
            </a:r>
            <a:r>
              <a:rPr lang="en-US" sz="2100" i="1" dirty="0"/>
              <a:t>Advanced Engineering Informatics, 43</a:t>
            </a:r>
            <a:r>
              <a:rPr lang="en-US" sz="2100" dirty="0"/>
              <a:t>, 101027. </a:t>
            </a:r>
            <a:r>
              <a:rPr lang="en-US" sz="2100" dirty="0">
                <a:hlinkClick r:id="rId2"/>
              </a:rPr>
              <a:t>https://doi.org/10.1016/j.aei.2019.101027</a:t>
            </a:r>
            <a:endParaRPr lang="en-US" sz="2100" dirty="0"/>
          </a:p>
          <a:p>
            <a:pPr lvl="1"/>
            <a:r>
              <a:rPr lang="en-IN" sz="2100" dirty="0">
                <a:hlinkClick r:id="rId3"/>
              </a:rPr>
              <a:t>Link to Paper</a:t>
            </a:r>
            <a:endParaRPr lang="en-US" sz="2100" b="1" dirty="0">
              <a:latin typeface="Arial Narrow" panose="020B0606020202030204" pitchFamily="34" charset="0"/>
            </a:endParaRPr>
          </a:p>
          <a:p>
            <a:r>
              <a:rPr lang="en-IN" sz="2000" b="1" dirty="0">
                <a:latin typeface="Arial Narrow" panose="020B0606020202030204" pitchFamily="34" charset="0"/>
              </a:rPr>
              <a:t>Paper I:</a:t>
            </a:r>
          </a:p>
          <a:p>
            <a:pPr lvl="1"/>
            <a:r>
              <a:rPr lang="en-US" sz="2100" dirty="0"/>
              <a:t>Cho, R. L. T., Liu, J. S., &amp; Ho, M. H. C. (2021). The development of autonomous driving technology: perspectives from patent citation analysis. </a:t>
            </a:r>
            <a:r>
              <a:rPr lang="en-US" sz="2100" i="1" dirty="0"/>
              <a:t>Transport Reviews</a:t>
            </a:r>
            <a:r>
              <a:rPr lang="en-US" sz="2100" dirty="0"/>
              <a:t>, </a:t>
            </a:r>
            <a:r>
              <a:rPr lang="en-US" sz="2100" i="1" dirty="0"/>
              <a:t>41</a:t>
            </a:r>
            <a:r>
              <a:rPr lang="en-US" sz="2100" dirty="0"/>
              <a:t>(5), 685–711. </a:t>
            </a:r>
            <a:r>
              <a:rPr lang="en-US" sz="2100" dirty="0">
                <a:hlinkClick r:id="rId4"/>
              </a:rPr>
              <a:t>https://doi.org/10.1080/01441647.2021.1879310</a:t>
            </a:r>
            <a:endParaRPr lang="en-IN" sz="2100" b="1" dirty="0">
              <a:latin typeface="Arial Narrow" panose="020B0606020202030204" pitchFamily="34" charset="0"/>
            </a:endParaRPr>
          </a:p>
          <a:p>
            <a:pPr lvl="1"/>
            <a:r>
              <a:rPr lang="en-IN" sz="2100" dirty="0">
                <a:hlinkClick r:id="rId5"/>
              </a:rPr>
              <a:t>Link to Paper</a:t>
            </a:r>
            <a:endParaRPr lang="en-IN" sz="2100" dirty="0"/>
          </a:p>
          <a:p>
            <a:r>
              <a:rPr lang="en-IN" sz="2000" b="1" dirty="0">
                <a:latin typeface="Arial Narrow" panose="020B0606020202030204" pitchFamily="34" charset="0"/>
              </a:rPr>
              <a:t>Paper II:</a:t>
            </a:r>
          </a:p>
          <a:p>
            <a:pPr lvl="1"/>
            <a:r>
              <a:rPr lang="en-US" sz="2000" dirty="0"/>
              <a:t>Kim, G., &amp; Bae, J. (2017). A novel approach to forecast promising technology through patent analysis. </a:t>
            </a:r>
            <a:r>
              <a:rPr lang="en-US" sz="2000" i="1" dirty="0"/>
              <a:t>Technological Forecasting and Social Change, 117</a:t>
            </a:r>
            <a:r>
              <a:rPr lang="en-US" sz="2000" dirty="0"/>
              <a:t>, 228–237. </a:t>
            </a:r>
            <a:r>
              <a:rPr lang="en-US" sz="2000" dirty="0">
                <a:hlinkClick r:id="rId6"/>
              </a:rPr>
              <a:t>https://doi.org/10.1016/j.techfore.2016.11.023</a:t>
            </a:r>
            <a:endParaRPr lang="en-US" sz="2000" dirty="0"/>
          </a:p>
          <a:p>
            <a:pPr lvl="1"/>
            <a:r>
              <a:rPr lang="en-US" sz="2300" dirty="0">
                <a:solidFill>
                  <a:srgbClr val="000000"/>
                </a:solidFill>
                <a:hlinkClick r:id="rId7"/>
              </a:rPr>
              <a:t>Link to Paper</a:t>
            </a:r>
            <a:endParaRPr lang="en-IN" sz="2300" u="sng" dirty="0">
              <a:solidFill>
                <a:srgbClr val="1155CC"/>
              </a:solidFill>
            </a:endParaRPr>
          </a:p>
          <a:p>
            <a:r>
              <a:rPr lang="en-IN" sz="2000" b="1" dirty="0">
                <a:latin typeface="Arial Narrow" panose="020B0606020202030204" pitchFamily="34" charset="0"/>
              </a:rPr>
              <a:t>Paper III:</a:t>
            </a:r>
          </a:p>
          <a:p>
            <a:pPr lvl="1"/>
            <a:r>
              <a:rPr lang="en-IN" sz="2000" dirty="0"/>
              <a:t>Lattimer, B., Chen, P. H., Zhang, X., &amp; Yang, Y. (2023). Fast and accurate factual inconsistency detection over long documents. In H. </a:t>
            </a:r>
            <a:r>
              <a:rPr lang="en-IN" sz="2000" dirty="0" err="1"/>
              <a:t>Bouamor</a:t>
            </a:r>
            <a:r>
              <a:rPr lang="en-IN" sz="2000" dirty="0"/>
              <a:t>, J. Pino, &amp; K. Bali (Eds.), </a:t>
            </a:r>
            <a:r>
              <a:rPr lang="en-IN" sz="2000" i="1" dirty="0"/>
              <a:t>Proceedings of the 2023 Conference on Empirical Methods in Natural Language Processing</a:t>
            </a:r>
            <a:r>
              <a:rPr lang="en-IN" sz="2000" dirty="0"/>
              <a:t> (pp. 1691-1703). Association for Computational Linguistics. </a:t>
            </a:r>
            <a:r>
              <a:rPr lang="en-IN" sz="2000" dirty="0">
                <a:hlinkClick r:id="rId8"/>
              </a:rPr>
              <a:t>https://doi.org/10.18653/v1/2023.emnlp-main.105</a:t>
            </a:r>
            <a:endParaRPr lang="en-IN" sz="2000" dirty="0"/>
          </a:p>
          <a:p>
            <a:pPr lvl="1"/>
            <a:r>
              <a:rPr lang="en-US" sz="2300" dirty="0">
                <a:solidFill>
                  <a:srgbClr val="000000"/>
                </a:solidFill>
                <a:hlinkClick r:id="rId9"/>
              </a:rPr>
              <a:t>Link to Paper</a:t>
            </a:r>
            <a:endParaRPr lang="en-IN" sz="2300" b="1"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3134518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Impact of the Proposed Research </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pPr marL="0" indent="0">
              <a:buNone/>
            </a:pPr>
            <a:r>
              <a:rPr lang="en-US" dirty="0"/>
              <a:t>This research enables data-driven insights into autonomous vehicle technology development by transforming complex patent text into structured data. It implements a scalable pipeline to identify technological trends, directions of innovation, and potential gaps in progress. These insights can support researchers, investors, and policymakers focused on advancing AV research.</a:t>
            </a: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1125428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635</Words>
  <Application>Microsoft Office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Narrow</vt:lpstr>
      <vt:lpstr>Calibri</vt:lpstr>
      <vt:lpstr>Calibri Light</vt:lpstr>
      <vt:lpstr>Office Theme</vt:lpstr>
      <vt:lpstr>Analyzing Technological Trends in Autonomous Vehicles through Patent Text Mining and Predictive Modeling   </vt:lpstr>
      <vt:lpstr>PowerPoint Presentation</vt:lpstr>
      <vt:lpstr>Problem Statement</vt:lpstr>
      <vt:lpstr>Dataset</vt:lpstr>
      <vt:lpstr>Review of Related Literature</vt:lpstr>
      <vt:lpstr>Impact of the Proposed Research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Aniket Shinde</cp:lastModifiedBy>
  <cp:revision>8</cp:revision>
  <dcterms:created xsi:type="dcterms:W3CDTF">2023-11-15T14:09:37Z</dcterms:created>
  <dcterms:modified xsi:type="dcterms:W3CDTF">2025-06-12T11:34:53Z</dcterms:modified>
</cp:coreProperties>
</file>